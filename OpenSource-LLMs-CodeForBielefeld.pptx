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before people arrive: terminal open, ollama serve running, models pre-pulled. This title slide stays up while people come in.</a:t>
            </a:r>
          </a:p>
          <a:p>
            <a:r>
              <a:t>Talk: 30-45 min + Q&amp;A, live demos on the 16GB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live demo BEFORE any slides — run gemma4:e2b, ask it something fun in German (Gemma 4 supports 140+ languages).</a:t>
            </a:r>
          </a:p>
          <a:p>
            <a:r>
              <a:t>Land the point hard: this is running on THIS laptop. WiFi can be off.</a:t>
            </a:r>
          </a:p>
          <a:p>
            <a:r>
              <a:t>Fallback: screen recording of this exact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 before talk: double-check current Gemma license terms vs Apache 2.0.</a:t>
            </a:r>
          </a:p>
          <a:p>
            <a:r>
              <a:t>Point for this audience: 'open weights' is the norm — you can run and fine-tune, but training data/recipe usually stay closed.</a:t>
            </a:r>
          </a:p>
          <a:p>
            <a:r>
              <a:t>Civic-tech angle: DSGVO + Verwaltung is the strongest why-care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TODO: pick current DeepSeek / Llama / Mistral versions to mention (one line each).</a:t>
            </a:r>
          </a:p>
          <a:p>
            <a:r>
              <a:t>Media idea: show the Ollama model library or HF leaderboard live if WiFi works — have a screenshot as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story of the talk: capability got compressed into small models.</a:t>
            </a:r>
          </a:p>
          <a:p>
            <a:r>
              <a:t>Killer stat: Qwen3.6-27B beats its own 397B predecessor on coding benchmarks — small + recent &gt; big + 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BLOCK 1 (~8 min). Pre-pull all models; close browsers so 12B fits; have screen recordings as fallback for every demo.</a:t>
            </a:r>
          </a:p>
          <a:p>
            <a:r>
              <a:t>Run the same prompt at 3 sizes with --verbose, watch tokens/sec drop and quality rise. Second terminal: ollama ps shows RAM footprint + 100% CPU.</a:t>
            </a:r>
          </a:p>
          <a:p>
            <a:r>
              <a:t>Then the wall: qwen3.6:27b Q4 is ~16GB weights alone → doesn't fit → perfect segue to quantization &amp; hardware.</a:t>
            </a:r>
          </a:p>
          <a:p>
            <a:r>
              <a:t>Multimodal teaser: image of the Rathaus into gemma4:e4b.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TODO: run test_token_speeds.py beforehand and fill in the real tokens/s numbers + your quality ratings (build the table from YOUR measurements — more credible than benchmark screenshots). Show the script briefly.</a:t>
            </a:r>
          </a:p>
          <a:p>
            <a:r>
              <a:t>TODO: decide the big-hardware story — rent a GPU for real Qwen 3.6 numbers, or use published benchmarks.</a:t>
            </a:r>
          </a:p>
          <a:p>
            <a:r>
              <a:t>Verify gemma4:12b actually runs OK in 16GB (close browsers!).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formula that explains the whole hardware market. LLM generation is memory-bandwidth-bound, not compute-bound: every generated token reads all weights once.</a:t>
            </a:r>
          </a:p>
          <a:p>
            <a:r>
              <a:t>CPU dual-channel DDR5 ~100GB/s → 4B Q4 (~2.5GB) at ~40 t/s is pleasant; 27B Q4 (~16GB) at ~6 t/s is painful.</a:t>
            </a:r>
          </a:p>
          <a:p>
            <a:r>
              <a:t>Optional demo: ollama ps shows 100% CPU here; screenshot of the same on a GPU box showing 100% GPU + the t/s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Prices are mid-2026 street prices, approximate. TODO: refresh shortly before the talk — GPU prices move fast.</a:t>
            </a:r>
          </a:p>
          <a:p>
            <a:r>
              <a:t>TODO: check rent-vs-buy break-even (at ~€0.50/h a used 3090 pays for itself after roughly 1,300 hours).</a:t>
            </a:r>
          </a:p>
          <a:p>
            <a:r>
              <a:t>Talking points: used RTX 3090 = the community Geheimtipp (~€1,200 total build). The VRAM cliff: if the model doesn't fit in VRAM it spills to system RAM and speed falls off a cliff. And: CPU is fine for small models — that's the real revolution, not the €3,000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Intuition first: weights are just numbers; quantization stores them sloppier. JPEG analogy carries the whole section.</a:t>
            </a:r>
          </a:p>
          <a:p>
            <a:r>
              <a:t>Live if time: same model in q4 and q8 → compare speed, RAM, and (usually) barely different output. An over-quantized Q2 model giving worse answers is more memorable than any chart.</a:t>
            </a:r>
          </a:p>
          <a:p>
            <a:r>
              <a:t>Mention: GGUF file format, llama.cpp is the engine underneath Ollama.</a:t>
            </a:r>
          </a:p>
          <a:p>
            <a:r>
              <a:t>Media idea: 3Blue1Brown clips for 'weights are numbers' intuition; perplexity-vs-quant chart from llama.cpp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math slide. Training needs weights + gradients + Adam optimizer states + activations ≈ 10–20× the memory of quantized inference — and it can't be aggressively quantized because tiny gradient updates vanish in 4-bit.</a:t>
            </a:r>
          </a:p>
          <a:p>
            <a:r>
              <a:t>Compute side: Gemma-class pretraining = thousands of GPUs × weeks.</a:t>
            </a:r>
          </a:p>
          <a:p>
            <a:r>
              <a:t>TODO: fun back-of-envelope — 'training Gemma 4 on this laptop ≈ X years' (FLOPs of pretraining ÷ laptop FLOPs).</a:t>
            </a:r>
          </a:p>
          <a:p>
            <a:r>
              <a:t>Media idea: datacenter photo vs this laptop,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Bridge: '…but there IS a trick to customize models at home.'</a:t>
            </a:r>
          </a:p>
          <a:p>
            <a:r>
              <a:t>LoRA: freeze the base weights, train two tiny low-rank matrices on the side (~0.1–1% of params). QLoRA = same on a quantized base → fine-tuning Gemma 4 E4B fits in ~8–12 GB / free Colab T4.</a:t>
            </a:r>
          </a:p>
          <a:p>
            <a:r>
              <a:t>Demo plan: train the LoRA BEFORE the talk (don't train live — too slow, too fragile), show the Unsloth notebook briefly, demo the result in Ollama.</a:t>
            </a:r>
          </a:p>
          <a:p>
            <a:r>
              <a:t>TODO: decide the fun dataset + build it (~100–500 examples is enough for a style LoRA): Bielefelder Platt / Amtsdeutsch / CfB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Message: pick the model for the task, not the biggest one.</a:t>
            </a:r>
          </a:p>
          <a:p>
            <a:r>
              <a:t>Gemma demo: photo of a paper form / Fahrplan / handwritten note → extract structured JSON, fully local → 'DSGVO-clean form scanning' is the civic-tech hook.</a:t>
            </a:r>
          </a:p>
          <a:p>
            <a:r>
              <a:t>Qwen demo (recorded from bigger hardware or via API): a real coding task both models attempt — Gemma E4B struggles, Qwen nails it.</a:t>
            </a:r>
          </a:p>
          <a:p>
            <a:r>
              <a:t>TODO: verify Qwen 3.6 27B is really text-only (some sources list MMMU scores → suggests vision?).</a:t>
            </a:r>
          </a:p>
          <a:p>
            <a:r>
              <a:t>Optional if time: Qwen plugged into Cline/aider = 'local GitHub Copilot'.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Wrap-up, ~2 min. Land the three takeaways, then the invitation: ollama.com, one command, running in five minutes.</a:t>
            </a:r>
          </a:p>
          <a:p>
            <a:r>
              <a:t>Close with the Code for Bielefeld project idea: local document processing or RAG over the Ratsinformationssystem — collect hands/interest for a follow-up evening.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Q&amp;A. Sources listed for the follow-up email / repo.</a:t>
            </a:r>
          </a:p>
          <a:p>
            <a:r>
              <a:t>Have the terminal still open — best Q&amp;A answers are live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17320"/>
            <a:ext cx="2782957" cy="3200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0" y="1783080"/>
            <a:ext cx="6949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867F"/>
                </a:solidFill>
                <a:latin typeface="Calibri"/>
              </a:rPr>
              <a:t>CODE FOR BIELEFELD · JULI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121408"/>
            <a:ext cx="7223760" cy="1051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EEF0F6"/>
                </a:solidFill>
                <a:latin typeface="Calibri"/>
              </a:rPr>
              <a:t>Open Source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127248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9AA3B8"/>
                </a:solidFill>
                <a:latin typeface="Calibri"/>
              </a:rPr>
              <a:t>Capable AI on your own laptop — no cloud, no API key, no data leaving the room.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041648"/>
            <a:ext cx="7132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F7789"/>
                </a:solidFill>
                <a:latin typeface="Calibri"/>
              </a:rPr>
              <a:t>Live demos throughout · Ollama · a normal 16 GB laptop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709160"/>
            <a:ext cx="6720840" cy="1188720"/>
          </a:xfrm>
          <a:prstGeom prst="roundRect">
            <a:avLst>
              <a:gd name="adj" fmla="val 7692"/>
            </a:avLst>
          </a:prstGeom>
          <a:solidFill>
            <a:srgbClr val="14161E"/>
          </a:solidFill>
          <a:ln w="12700">
            <a:solidFill>
              <a:srgbClr val="3A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36592" y="4846320"/>
            <a:ext cx="82296" cy="82296"/>
          </a:xfrm>
          <a:prstGeom prst="ellipse">
            <a:avLst/>
          </a:prstGeom>
          <a:solidFill>
            <a:srgbClr val="FF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92040" y="4846320"/>
            <a:ext cx="82296" cy="82296"/>
          </a:xfrm>
          <a:prstGeom prst="ellipse">
            <a:avLst/>
          </a:prstGeom>
          <a:solidFill>
            <a:srgbClr val="FFC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47488" y="4846320"/>
            <a:ext cx="82296" cy="82296"/>
          </a:xfrm>
          <a:prstGeom prst="ellipse">
            <a:avLst/>
          </a:prstGeom>
          <a:solidFill>
            <a:srgbClr val="8C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5111496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867F"/>
                </a:solidFill>
                <a:latin typeface="Consolas"/>
              </a:rPr>
              <a:t>$ </a:t>
            </a:r>
            <a:r>
              <a:rPr sz="1200" b="0" i="0">
                <a:solidFill>
                  <a:srgbClr val="EEF0F6"/>
                </a:solidFill>
                <a:latin typeface="Consolas"/>
              </a:rPr>
              <a:t>ollama run gemma4:e2b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5344668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3B8"/>
                </a:solidFill>
                <a:latin typeface="Consolas"/>
              </a:rPr>
              <a:t>&gt;&gt;&gt; Erkläre in 3 Sätzen, warum Bielefeld existiert.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5577840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CD9A0"/>
                </a:solidFill>
                <a:latin typeface="Consolas"/>
              </a:rPr>
              <a:t>Bielefeld existiert – und das lässt sich sogar lokal beweisen. 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02920" y="438912"/>
            <a:ext cx="402336" cy="365760"/>
          </a:xfrm>
          <a:prstGeom prst="hexagon">
            <a:avLst/>
          </a:prstGeom>
          <a:noFill/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40233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867F"/>
                </a:solidFill>
                <a:latin typeface="Consolas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438912"/>
            <a:ext cx="73152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A3B8"/>
                </a:solidFill>
                <a:latin typeface="Calibri"/>
              </a:rPr>
              <a:t>HOOK · LIVE DEMO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F7789"/>
                </a:solidFill>
                <a:latin typeface="Consola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556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6"/>
                </a:solidFill>
                <a:latin typeface="Calibri"/>
              </a:rPr>
              <a:t>This just ran on this laptop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6720840" cy="3200400"/>
          </a:xfrm>
          <a:prstGeom prst="roundRect">
            <a:avLst>
              <a:gd name="adj" fmla="val 2857"/>
            </a:avLst>
          </a:prstGeom>
          <a:solidFill>
            <a:srgbClr val="14161E"/>
          </a:solidFill>
          <a:ln w="12700">
            <a:solidFill>
              <a:srgbClr val="3A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828800"/>
            <a:ext cx="82296" cy="82296"/>
          </a:xfrm>
          <a:prstGeom prst="ellipse">
            <a:avLst/>
          </a:prstGeom>
          <a:solidFill>
            <a:srgbClr val="FF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828800"/>
            <a:ext cx="82296" cy="82296"/>
          </a:xfrm>
          <a:prstGeom prst="ellipse">
            <a:avLst/>
          </a:prstGeom>
          <a:solidFill>
            <a:srgbClr val="FFC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" y="1828800"/>
            <a:ext cx="82296" cy="82296"/>
          </a:xfrm>
          <a:prstGeom prst="ellipse">
            <a:avLst/>
          </a:prstGeom>
          <a:solidFill>
            <a:srgbClr val="8C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783080"/>
            <a:ext cx="5897879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F7789"/>
                </a:solidFill>
                <a:latin typeface="Consolas"/>
              </a:rPr>
              <a:t>live — no network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93976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867F"/>
                </a:solidFill>
                <a:latin typeface="Consolas"/>
              </a:rPr>
              <a:t>$ </a:t>
            </a:r>
            <a:r>
              <a:rPr sz="1200" b="0" i="0">
                <a:solidFill>
                  <a:srgbClr val="EEF0F6"/>
                </a:solidFill>
                <a:latin typeface="Consolas"/>
              </a:rPr>
              <a:t>ollama run gemma4:e2b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27148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3B8"/>
                </a:solidFill>
                <a:latin typeface="Consolas"/>
              </a:rPr>
              <a:t>&gt;&gt;&gt; Erkläre in 3 Sätzen, warum Bielefeld existiert.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CD9A0"/>
                </a:solidFill>
                <a:latin typeface="Consolas"/>
              </a:rPr>
              <a:t>Bielefeld existiert seit 1214 als Kaufmannsstadt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84932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CD9A0"/>
                </a:solidFill>
                <a:latin typeface="Consolas"/>
              </a:rPr>
              <a:t>Übergang durch den Teutoburger Wald. Die Sparrenburg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18103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CD9A0"/>
                </a:solidFill>
                <a:latin typeface="Consolas"/>
              </a:rPr>
              <a:t>bewachte den Pass, die Leinenweber brachten den Handel.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51275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CD9A0"/>
                </a:solidFill>
                <a:latin typeface="Consolas"/>
              </a:rPr>
              <a:t>Dass die Stadt nicht existiere, ist nur ein Internet-Witz.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75887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789"/>
                </a:solidFill>
                <a:latin typeface="Consolas"/>
              </a:rPr>
              <a:t># gemma4:e2b · 2.3B params · ~2 GB · CPU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00499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789"/>
                </a:solidFill>
                <a:latin typeface="Consolas"/>
              </a:rPr>
              <a:t># ~40 tokens/s on this CPU — fast enough to read along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047488"/>
            <a:ext cx="67208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F7789"/>
                </a:solidFill>
                <a:latin typeface="Calibri"/>
              </a:rPr>
              <a:t>Flugmodus an — die Demo läuft trotzdem.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691640"/>
            <a:ext cx="4069080" cy="1051560"/>
          </a:xfrm>
          <a:prstGeom prst="roundRect">
            <a:avLst>
              <a:gd name="adj" fmla="val 8695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856232"/>
            <a:ext cx="3657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EF0F6"/>
                </a:solidFill>
                <a:latin typeface="Calibri"/>
              </a:rPr>
              <a:t>Runs entirely on this laptop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16712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9AA3B8"/>
                </a:solidFill>
                <a:latin typeface="Calibri"/>
              </a:rPr>
              <a:t>2 GB download · 16 GB consumer laptop · no GPU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926080"/>
            <a:ext cx="4069080" cy="1051560"/>
          </a:xfrm>
          <a:prstGeom prst="roundRect">
            <a:avLst>
              <a:gd name="adj" fmla="val 8695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3090672"/>
            <a:ext cx="3657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EF0F6"/>
                </a:solidFill>
                <a:latin typeface="Calibri"/>
              </a:rPr>
              <a:t>No cloud, no API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40156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9AA3B8"/>
                </a:solidFill>
                <a:latin typeface="Calibri"/>
              </a:rPr>
              <a:t>No account, no rate limits, no monthly bill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4160520"/>
            <a:ext cx="4069080" cy="1051560"/>
          </a:xfrm>
          <a:prstGeom prst="roundRect">
            <a:avLst>
              <a:gd name="adj" fmla="val 8695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4325112"/>
            <a:ext cx="3657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867F"/>
                </a:solidFill>
                <a:latin typeface="Calibri"/>
              </a:rPr>
              <a:t>No data leaves the 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63600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9AA3B8"/>
                </a:solidFill>
                <a:latin typeface="Calibri"/>
              </a:rPr>
              <a:t>Privacy by construction — DSGVO-friendly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02920" y="438912"/>
            <a:ext cx="402336" cy="365760"/>
          </a:xfrm>
          <a:prstGeom prst="hexagon">
            <a:avLst/>
          </a:prstGeom>
          <a:noFill/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40233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867F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438912"/>
            <a:ext cx="73152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A3B8"/>
                </a:solidFill>
                <a:latin typeface="Calibri"/>
              </a:rPr>
              <a:t>WHAT “OPEN” ACTUALLY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F7789"/>
                </a:solidFill>
                <a:latin typeface="Consola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556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6"/>
                </a:solidFill>
                <a:latin typeface="Calibri"/>
              </a:rPr>
              <a:t>“Open source LLM” usually means open weights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6720840" cy="841248"/>
          </a:xfrm>
          <a:prstGeom prst="roundRect">
            <a:avLst>
              <a:gd name="adj" fmla="val 9782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2377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EF0F6"/>
                </a:solidFill>
                <a:latin typeface="Calibri"/>
              </a:rPr>
              <a:t>Open weights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7568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You get the trained parameters — download, run, fine-tune. This is what “open” means for almost every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79222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792224"/>
            <a:ext cx="9601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8CD9A0"/>
                </a:solidFill>
                <a:latin typeface="Calibri"/>
              </a:rPr>
              <a:t>the norm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6720840" cy="841248"/>
          </a:xfrm>
          <a:prstGeom prst="roundRect">
            <a:avLst>
              <a:gd name="adj" fmla="val 9782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34056"/>
            <a:ext cx="2377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EF0F6"/>
                </a:solidFill>
                <a:latin typeface="Calibri"/>
              </a:rPr>
              <a:t>Open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The training data is published. Very few models (e.g. OLMo-style research projects).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276148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761488"/>
            <a:ext cx="9601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C66B"/>
                </a:solidFill>
                <a:latin typeface="Calibri"/>
              </a:rPr>
              <a:t>rare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84448"/>
            <a:ext cx="6720840" cy="841248"/>
          </a:xfrm>
          <a:prstGeom prst="roundRect">
            <a:avLst>
              <a:gd name="adj" fmla="val 9782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2377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EF0F6"/>
                </a:solidFill>
                <a:latin typeface="Calibri"/>
              </a:rPr>
              <a:t>Open training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14215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The full recipe to reproduce the model from scratch.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73075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730752"/>
            <a:ext cx="9601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C66B"/>
                </a:solidFill>
                <a:latin typeface="Calibri"/>
              </a:rPr>
              <a:t>rare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681728"/>
            <a:ext cx="6720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EF0F6"/>
                </a:solidFill>
                <a:latin typeface="Calibri"/>
              </a:rPr>
              <a:t>Licenses still differ:  </a:t>
            </a:r>
            <a:r>
              <a:rPr sz="1250" b="0" i="0">
                <a:solidFill>
                  <a:srgbClr val="9AA3B8"/>
                </a:solidFill>
                <a:latin typeface="Calibri"/>
              </a:rPr>
              <a:t>Apache 2.0 (Qwen — do anything)  ·  Gemma license  ·  Llama license (usage terms attached)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1572768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867F"/>
                </a:solidFill>
                <a:latin typeface="Calibri"/>
              </a:rPr>
              <a:t>WHY CARE?</a:t>
            </a:r>
          </a:p>
        </p:txBody>
      </p:sp>
      <p:sp>
        <p:nvSpPr>
          <p:cNvPr id="24" name="Oval 23"/>
          <p:cNvSpPr/>
          <p:nvPr/>
        </p:nvSpPr>
        <p:spPr>
          <a:xfrm>
            <a:off x="7635240" y="2034540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1947672"/>
            <a:ext cx="381304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EF0F6"/>
                </a:solidFill>
                <a:latin typeface="Calibri"/>
              </a:rPr>
              <a:t>Privacy — DSGVO!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1" y="2212848"/>
            <a:ext cx="3813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Citizen data never leaves your machine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2766060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2679192"/>
            <a:ext cx="381304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EF0F6"/>
                </a:solidFill>
                <a:latin typeface="Calibri"/>
              </a:rPr>
              <a:t>Cost &amp; offline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1" y="2944368"/>
            <a:ext cx="3813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No per-token bill, works without internet</a:t>
            </a:r>
          </a:p>
        </p:txBody>
      </p:sp>
      <p:sp>
        <p:nvSpPr>
          <p:cNvPr id="30" name="Oval 29"/>
          <p:cNvSpPr/>
          <p:nvPr/>
        </p:nvSpPr>
        <p:spPr>
          <a:xfrm>
            <a:off x="7635240" y="3497580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3410712"/>
            <a:ext cx="381304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EF0F6"/>
                </a:solidFill>
                <a:latin typeface="Calibri"/>
              </a:rPr>
              <a:t>No vendor lock-in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1271" y="3675887"/>
            <a:ext cx="3813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The model file is yours, forever</a:t>
            </a:r>
          </a:p>
        </p:txBody>
      </p:sp>
      <p:sp>
        <p:nvSpPr>
          <p:cNvPr id="33" name="Oval 32"/>
          <p:cNvSpPr/>
          <p:nvPr/>
        </p:nvSpPr>
        <p:spPr>
          <a:xfrm>
            <a:off x="7635240" y="4229100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1271" y="4142232"/>
            <a:ext cx="381304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EF0F6"/>
                </a:solidFill>
                <a:latin typeface="Calibri"/>
              </a:rPr>
              <a:t>Fine-tunable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1271" y="4407408"/>
            <a:ext cx="3813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Adapt it to your domain (→ LoRA, later)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4983480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1">
                <a:solidFill>
                  <a:srgbClr val="6F7789"/>
                </a:solidFill>
                <a:latin typeface="Calibri"/>
              </a:rPr>
              <a:t>A very good fit for civic tech and public administration.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02920" y="438912"/>
            <a:ext cx="402336" cy="365760"/>
          </a:xfrm>
          <a:prstGeom prst="hexagon">
            <a:avLst/>
          </a:prstGeom>
          <a:noFill/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40233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867F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438912"/>
            <a:ext cx="73152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A3B8"/>
                </a:solidFill>
                <a:latin typeface="Calibri"/>
              </a:rPr>
              <a:t>THE LANDSCAPE · MID-2026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F7789"/>
                </a:solidFill>
                <a:latin typeface="Consola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556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6"/>
                </a:solidFill>
                <a:latin typeface="Calibri"/>
              </a:rPr>
              <a:t>Who’s who in open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3246120"/>
          </a:xfrm>
          <a:prstGeom prst="roundRect">
            <a:avLst>
              <a:gd name="adj" fmla="val 3380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84632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EF0F6"/>
                </a:solidFill>
                <a:latin typeface="Calibri"/>
              </a:rPr>
              <a:t>Gemma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846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867F"/>
                </a:solidFill>
                <a:latin typeface="Calibri"/>
              </a:rPr>
              <a:t>Google — “the multimodal generalist”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93492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706624"/>
            <a:ext cx="46817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6"/>
                </a:solidFill>
                <a:latin typeface="Calibri"/>
              </a:rPr>
              <a:t>E2B · E4B · 12B Unified · 26B MoE · 31B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71800"/>
            <a:ext cx="4681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sizes for phone → workstation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451860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64992"/>
            <a:ext cx="46817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6"/>
                </a:solidFill>
                <a:latin typeface="Calibri"/>
              </a:rPr>
              <a:t>Multimodal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630168"/>
            <a:ext cx="4681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text + image (12B Unified also audio) · 256K context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110228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023360"/>
            <a:ext cx="46817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6"/>
                </a:solidFill>
                <a:latin typeface="Calibri"/>
              </a:rPr>
              <a:t>140+ languages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288536"/>
            <a:ext cx="4681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notably strong German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45920"/>
            <a:ext cx="5486400" cy="3246120"/>
          </a:xfrm>
          <a:prstGeom prst="roundRect">
            <a:avLst>
              <a:gd name="adj" fmla="val 3380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874519"/>
            <a:ext cx="484632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EF0F6"/>
                </a:solidFill>
                <a:latin typeface="Calibri"/>
              </a:rPr>
              <a:t>Qwen 3.6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286000"/>
            <a:ext cx="4846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867F"/>
                </a:solidFill>
                <a:latin typeface="Calibri"/>
              </a:rPr>
              <a:t>Alibaba — “the coding monster”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2793492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706624"/>
            <a:ext cx="46817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6"/>
                </a:solidFill>
                <a:latin typeface="Calibri"/>
              </a:rPr>
              <a:t>27B dense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2971800"/>
            <a:ext cx="4681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one size, tuned hard for code &amp; agents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3451860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3364992"/>
            <a:ext cx="46817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6"/>
                </a:solidFill>
                <a:latin typeface="Calibri"/>
              </a:rPr>
              <a:t>77.2% SWE-bench Verified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3630168"/>
            <a:ext cx="4681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on par with frontier closed models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4110228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4023360"/>
            <a:ext cx="46817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6"/>
                </a:solidFill>
                <a:latin typeface="Calibri"/>
              </a:rPr>
              <a:t>Apache 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4288536"/>
            <a:ext cx="4681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the most permissive license there 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120640"/>
            <a:ext cx="11201400" cy="868680"/>
          </a:xfrm>
          <a:prstGeom prst="roundRect">
            <a:avLst>
              <a:gd name="adj" fmla="val 10526"/>
            </a:avLst>
          </a:prstGeom>
          <a:solidFill>
            <a:srgbClr val="26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230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6"/>
                </a:solidFill>
                <a:latin typeface="Calibri"/>
              </a:rPr>
              <a:t>Also on the map:  </a:t>
            </a:r>
            <a:r>
              <a:rPr sz="1350" b="0" i="0">
                <a:solidFill>
                  <a:srgbClr val="9AA3B8"/>
                </a:solidFill>
                <a:latin typeface="Calibri"/>
              </a:rPr>
              <a:t>DeepSeek (open reasoning models)  ·  Llama (Meta’s ecosystem)  ·  Mistral (European, efficient)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02920" y="438912"/>
            <a:ext cx="402336" cy="365760"/>
          </a:xfrm>
          <a:prstGeom prst="hexagon">
            <a:avLst/>
          </a:prstGeom>
          <a:noFill/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40233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867F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438912"/>
            <a:ext cx="73152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A3B8"/>
                </a:solidFill>
                <a:latin typeface="Calibri"/>
              </a:rPr>
              <a:t>THE REAL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F7789"/>
                </a:solidFill>
                <a:latin typeface="Consola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556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6"/>
                </a:solidFill>
                <a:latin typeface="Calibri"/>
              </a:rPr>
              <a:t>From datacenter to laptop in six years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2514600"/>
            <a:ext cx="10515600" cy="0"/>
          </a:xfrm>
          <a:prstGeom prst="line">
            <a:avLst/>
          </a:prstGeom>
          <a:ln w="25400">
            <a:solidFill>
              <a:srgbClr val="3A3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152144" y="2432304"/>
            <a:ext cx="164592" cy="164592"/>
          </a:xfrm>
          <a:prstGeom prst="ellipse">
            <a:avLst/>
          </a:prstGeom>
          <a:solidFill>
            <a:srgbClr val="20232D"/>
          </a:solidFill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828800"/>
            <a:ext cx="2377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867F"/>
                </a:solidFill>
                <a:latin typeface="Calibri"/>
              </a:rPr>
              <a:t>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91439" y="2770632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EF0F6"/>
                </a:solidFill>
                <a:latin typeface="Calibri"/>
              </a:rPr>
              <a:t>GPT-3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91439" y="3081528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175B · closed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91439" y="3337560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6F7789"/>
                </a:solidFill>
                <a:latin typeface="Calibri"/>
              </a:rPr>
              <a:t>datacenter only</a:t>
            </a:r>
          </a:p>
        </p:txBody>
      </p:sp>
      <p:sp>
        <p:nvSpPr>
          <p:cNvPr id="13" name="Oval 12"/>
          <p:cNvSpPr/>
          <p:nvPr/>
        </p:nvSpPr>
        <p:spPr>
          <a:xfrm>
            <a:off x="4215384" y="2432304"/>
            <a:ext cx="164592" cy="164592"/>
          </a:xfrm>
          <a:prstGeom prst="ellipse">
            <a:avLst/>
          </a:prstGeom>
          <a:solidFill>
            <a:srgbClr val="20232D"/>
          </a:solidFill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828800"/>
            <a:ext cx="2377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867F"/>
                </a:solidFill>
                <a:latin typeface="Calibri"/>
              </a:rPr>
              <a:t>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770632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EF0F6"/>
                </a:solidFill>
                <a:latin typeface="Calibri"/>
              </a:rPr>
              <a:t>Llama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081528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70B · open-ish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337560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6F7789"/>
                </a:solidFill>
                <a:latin typeface="Calibri"/>
              </a:rPr>
              <a:t>workstation</a:t>
            </a:r>
          </a:p>
        </p:txBody>
      </p:sp>
      <p:sp>
        <p:nvSpPr>
          <p:cNvPr id="18" name="Oval 17"/>
          <p:cNvSpPr/>
          <p:nvPr/>
        </p:nvSpPr>
        <p:spPr>
          <a:xfrm>
            <a:off x="7278624" y="2432304"/>
            <a:ext cx="164592" cy="164592"/>
          </a:xfrm>
          <a:prstGeom prst="ellipse">
            <a:avLst/>
          </a:prstGeom>
          <a:solidFill>
            <a:srgbClr val="20232D"/>
          </a:solidFill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828800"/>
            <a:ext cx="2377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867F"/>
                </a:solidFill>
                <a:latin typeface="Calibri"/>
              </a:rPr>
              <a:t>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770632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EF0F6"/>
                </a:solidFill>
                <a:latin typeface="Calibri"/>
              </a:rPr>
              <a:t>Gemma 3 / Qwen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081528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4–32B · 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337560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6F7789"/>
                </a:solidFill>
                <a:latin typeface="Calibri"/>
              </a:rPr>
              <a:t>laptop</a:t>
            </a:r>
          </a:p>
        </p:txBody>
      </p:sp>
      <p:sp>
        <p:nvSpPr>
          <p:cNvPr id="23" name="Oval 22"/>
          <p:cNvSpPr/>
          <p:nvPr/>
        </p:nvSpPr>
        <p:spPr>
          <a:xfrm>
            <a:off x="10341864" y="2432304"/>
            <a:ext cx="164592" cy="164592"/>
          </a:xfrm>
          <a:prstGeom prst="ellipse">
            <a:avLst/>
          </a:prstGeom>
          <a:solidFill>
            <a:srgbClr val="FF867F"/>
          </a:solidFill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828800"/>
            <a:ext cx="2377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867F"/>
                </a:solidFill>
                <a:latin typeface="Calibri"/>
              </a:rPr>
              <a:t>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770632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EF0F6"/>
                </a:solidFill>
                <a:latin typeface="Calibri"/>
              </a:rPr>
              <a:t>Gemma 4 E2B/E4B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081528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2–4B · open · multimodal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337560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6F7789"/>
                </a:solidFill>
                <a:latin typeface="Calibri"/>
              </a:rPr>
              <a:t>any laptop, even phones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54480" y="4160520"/>
            <a:ext cx="9098280" cy="1691640"/>
          </a:xfrm>
          <a:prstGeom prst="roundRect">
            <a:avLst>
              <a:gd name="adj" fmla="val 7567"/>
            </a:avLst>
          </a:prstGeom>
          <a:solidFill>
            <a:srgbClr val="2A2E3C"/>
          </a:solidFill>
          <a:ln w="15875">
            <a:solidFill>
              <a:srgbClr val="8A4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40" y="443484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EEF0F6"/>
                </a:solidFill>
                <a:latin typeface="Calibri"/>
              </a:rPr>
              <a:t>Qwen 3.6-27B beats its own 397B predecessor on coding benchmarks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193792"/>
            <a:ext cx="84124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867F"/>
                </a:solidFill>
                <a:latin typeface="Consolas"/>
              </a:rPr>
              <a:t>small + recent  &gt;  big + old</a:t>
            </a:r>
            <a:r>
              <a:rPr sz="1300" b="0" i="0">
                <a:solidFill>
                  <a:srgbClr val="9AA3B8"/>
                </a:solidFill>
                <a:latin typeface="Calibri"/>
              </a:rPr>
              <a:t>   — capability per parameter keeps climbing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02920" y="438912"/>
            <a:ext cx="402336" cy="365760"/>
          </a:xfrm>
          <a:prstGeom prst="hexagon">
            <a:avLst/>
          </a:prstGeom>
          <a:noFill/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40233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867F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438912"/>
            <a:ext cx="73152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A3B8"/>
                </a:solidFill>
                <a:latin typeface="Calibri"/>
              </a:rPr>
              <a:t>LIVE DEMO · SMALL MODELS ON THIS LAPTOP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F7789"/>
                </a:solidFill>
                <a:latin typeface="Consola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556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6"/>
                </a:solidFill>
                <a:latin typeface="Calibri"/>
              </a:rPr>
              <a:t>Same prompt, three sizes — watch tokens/sec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6720840" cy="2423160"/>
          </a:xfrm>
          <a:prstGeom prst="roundRect">
            <a:avLst>
              <a:gd name="adj" fmla="val 3773"/>
            </a:avLst>
          </a:prstGeom>
          <a:solidFill>
            <a:srgbClr val="14161E"/>
          </a:solidFill>
          <a:ln w="12700">
            <a:solidFill>
              <a:srgbClr val="3A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783080"/>
            <a:ext cx="82296" cy="82296"/>
          </a:xfrm>
          <a:prstGeom prst="ellipse">
            <a:avLst/>
          </a:prstGeom>
          <a:solidFill>
            <a:srgbClr val="FF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783080"/>
            <a:ext cx="82296" cy="82296"/>
          </a:xfrm>
          <a:prstGeom prst="ellipse">
            <a:avLst/>
          </a:prstGeom>
          <a:solidFill>
            <a:srgbClr val="FFC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" y="1783080"/>
            <a:ext cx="82296" cy="82296"/>
          </a:xfrm>
          <a:prstGeom prst="ellipse">
            <a:avLst/>
          </a:prstGeom>
          <a:solidFill>
            <a:srgbClr val="8C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737360"/>
            <a:ext cx="5897879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F7789"/>
                </a:solidFill>
                <a:latin typeface="Consolas"/>
              </a:rPr>
              <a:t>demo 1 — size vs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48256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867F"/>
                </a:solidFill>
                <a:latin typeface="Consolas"/>
              </a:rPr>
              <a:t>$ </a:t>
            </a:r>
            <a:r>
              <a:rPr sz="1200" b="0" i="0">
                <a:solidFill>
                  <a:srgbClr val="EEF0F6"/>
                </a:solidFill>
                <a:latin typeface="Consolas"/>
              </a:rPr>
              <a:t>ollama run gemma4:e2b --verbose "Schreibe eine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1428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3B8"/>
                </a:solidFill>
                <a:latin typeface="Consolas"/>
              </a:rPr>
              <a:t>    Python-Funktion: Ist ein Jahr ein Schaltjahr?"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14600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789"/>
                </a:solidFill>
                <a:latin typeface="Consolas"/>
              </a:rPr>
              <a:t># … eval rate: ~XX tokens/s   ← measure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39212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867F"/>
                </a:solidFill>
                <a:latin typeface="Consolas"/>
              </a:rPr>
              <a:t>$ </a:t>
            </a:r>
            <a:r>
              <a:rPr sz="1200" b="0" i="0">
                <a:solidFill>
                  <a:srgbClr val="EEF0F6"/>
                </a:solidFill>
                <a:latin typeface="Consolas"/>
              </a:rPr>
              <a:t>ollama run gemma4:e4b --verbose "…"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72384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867F"/>
                </a:solidFill>
                <a:latin typeface="Consolas"/>
              </a:rPr>
              <a:t>$ </a:t>
            </a:r>
            <a:r>
              <a:rPr sz="1200" b="0" i="0">
                <a:solidFill>
                  <a:srgbClr val="EEF0F6"/>
                </a:solidFill>
                <a:latin typeface="Consolas"/>
              </a:rPr>
              <a:t>ollama run gemma4:12b --verbose "…"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05556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789"/>
                </a:solidFill>
                <a:latin typeface="Consolas"/>
              </a:rPr>
              <a:t># speed drops, quality rises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15968"/>
            <a:ext cx="6720840" cy="1764792"/>
          </a:xfrm>
          <a:prstGeom prst="roundRect">
            <a:avLst>
              <a:gd name="adj" fmla="val 5181"/>
            </a:avLst>
          </a:prstGeom>
          <a:solidFill>
            <a:srgbClr val="14161E"/>
          </a:solidFill>
          <a:ln w="12700">
            <a:solidFill>
              <a:srgbClr val="3A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7512" y="4453128"/>
            <a:ext cx="82296" cy="82296"/>
          </a:xfrm>
          <a:prstGeom prst="ellipse">
            <a:avLst/>
          </a:prstGeom>
          <a:solidFill>
            <a:srgbClr val="FF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453128"/>
            <a:ext cx="82296" cy="82296"/>
          </a:xfrm>
          <a:prstGeom prst="ellipse">
            <a:avLst/>
          </a:prstGeom>
          <a:solidFill>
            <a:srgbClr val="FFC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8408" y="4453128"/>
            <a:ext cx="82296" cy="82296"/>
          </a:xfrm>
          <a:prstGeom prst="ellipse">
            <a:avLst/>
          </a:prstGeom>
          <a:solidFill>
            <a:srgbClr val="8C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407407"/>
            <a:ext cx="5897879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F7789"/>
                </a:solidFill>
                <a:latin typeface="Consolas"/>
              </a:rPr>
              <a:t>demo 2 — 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18304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867F"/>
                </a:solidFill>
                <a:latin typeface="Consolas"/>
              </a:rPr>
              <a:t>$ </a:t>
            </a:r>
            <a:r>
              <a:rPr sz="1200" b="0" i="0">
                <a:solidFill>
                  <a:srgbClr val="EEF0F6"/>
                </a:solidFill>
                <a:latin typeface="Consolas"/>
              </a:rPr>
              <a:t>ollama run gemma4:e4b "Was ist auf diesem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51476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3B8"/>
                </a:solidFill>
                <a:latin typeface="Consolas"/>
              </a:rPr>
              <a:t>    Bild zu sehen?" ./bielefeld-rathaus.jpg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84648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789"/>
                </a:solidFill>
                <a:latin typeface="Consolas"/>
              </a:rPr>
              <a:t># multimodal teaser — image in, answer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17820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789"/>
                </a:solidFill>
                <a:latin typeface="Consolas"/>
              </a:rPr>
              <a:t># gemma4 reads forms, timetables, handwriting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164592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14161E"/>
          </a:solidFill>
          <a:ln w="12700">
            <a:solidFill>
              <a:srgbClr val="3A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99831" y="1783080"/>
            <a:ext cx="82296" cy="82296"/>
          </a:xfrm>
          <a:prstGeom prst="ellipse">
            <a:avLst/>
          </a:prstGeom>
          <a:solidFill>
            <a:srgbClr val="FF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55279" y="1783080"/>
            <a:ext cx="82296" cy="82296"/>
          </a:xfrm>
          <a:prstGeom prst="ellipse">
            <a:avLst/>
          </a:prstGeom>
          <a:solidFill>
            <a:srgbClr val="FFC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10727" y="1783080"/>
            <a:ext cx="82296" cy="82296"/>
          </a:xfrm>
          <a:prstGeom prst="ellipse">
            <a:avLst/>
          </a:prstGeom>
          <a:solidFill>
            <a:srgbClr val="8C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737360"/>
            <a:ext cx="3246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F7789"/>
                </a:solidFill>
                <a:latin typeface="Consolas"/>
              </a:rPr>
              <a:t>second terminal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048256"/>
            <a:ext cx="36576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867F"/>
                </a:solidFill>
                <a:latin typeface="Consolas"/>
              </a:rPr>
              <a:t>$ </a:t>
            </a:r>
            <a:r>
              <a:rPr sz="1200" b="0" i="0">
                <a:solidFill>
                  <a:srgbClr val="EEF0F6"/>
                </a:solidFill>
                <a:latin typeface="Consolas"/>
              </a:rPr>
              <a:t>ollama 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2281428"/>
            <a:ext cx="36576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3B8"/>
                </a:solidFill>
                <a:latin typeface="Consolas"/>
              </a:rPr>
              <a:t>NAME         SIZE   PROC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2514600"/>
            <a:ext cx="36576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CD9A0"/>
                </a:solidFill>
                <a:latin typeface="Consolas"/>
              </a:rPr>
              <a:t>gemma4:12b   8.1GB  100% CPU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2747772"/>
            <a:ext cx="36576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789"/>
                </a:solidFill>
                <a:latin typeface="Consolas"/>
              </a:rPr>
              <a:t># RAM footprint, live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3657600"/>
            <a:ext cx="4069080" cy="2423160"/>
          </a:xfrm>
          <a:prstGeom prst="roundRect">
            <a:avLst>
              <a:gd name="adj" fmla="val 4528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3858768"/>
            <a:ext cx="3566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C66B"/>
                </a:solidFill>
                <a:latin typeface="Calibri"/>
              </a:rPr>
              <a:t>The wall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4224528"/>
            <a:ext cx="36118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867F"/>
                </a:solidFill>
                <a:latin typeface="Consolas"/>
              </a:rPr>
              <a:t>$ </a:t>
            </a:r>
            <a:r>
              <a:rPr sz="1200" b="0" i="0">
                <a:solidFill>
                  <a:srgbClr val="EEF0F6"/>
                </a:solidFill>
                <a:latin typeface="Consolas"/>
              </a:rPr>
              <a:t>ollama pull qwen3.6:27b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4553712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9AA3B8"/>
                </a:solidFill>
                <a:latin typeface="Calibri"/>
              </a:rPr>
              <a:t>Q4 weights alone ≈ 16 GB — more than this laptop’s entire RAM.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9AA3B8"/>
                </a:solidFill>
                <a:latin typeface="Calibri"/>
              </a:rPr>
              <a:t>Doesn’t fit. Why? And what would?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02920" y="438912"/>
            <a:ext cx="402336" cy="365760"/>
          </a:xfrm>
          <a:prstGeom prst="hexagon">
            <a:avLst/>
          </a:prstGeom>
          <a:noFill/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40233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867F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438912"/>
            <a:ext cx="73152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A3B8"/>
                </a:solidFill>
                <a:latin typeface="Calibri"/>
              </a:rPr>
              <a:t>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F7789"/>
                </a:solidFill>
                <a:latin typeface="Consola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556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6"/>
                </a:solidFill>
                <a:latin typeface="Calibri"/>
              </a:rPr>
              <a:t>Speed vs. RAM vs. quality — measured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2743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F7789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F7789"/>
                </a:solidFill>
                <a:latin typeface="Calibri"/>
              </a:rPr>
              <a:t>PARAMS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645920"/>
            <a:ext cx="100583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F7789"/>
                </a:solidFill>
                <a:latin typeface="Calibri"/>
              </a:rPr>
              <a:t>QUANT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645920"/>
            <a:ext cx="1280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F7789"/>
                </a:solidFill>
                <a:latin typeface="Calibri"/>
              </a:rPr>
              <a:t>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6459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F7789"/>
                </a:solidFill>
                <a:latin typeface="Calibri"/>
              </a:rPr>
              <a:t>TOKENS/S (this laptop)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645920"/>
            <a:ext cx="224027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F7789"/>
                </a:solidFill>
                <a:latin typeface="Calibri"/>
              </a:rPr>
              <a:t>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33956"/>
            <a:ext cx="11201400" cy="475488"/>
          </a:xfrm>
          <a:prstGeom prst="roundRect">
            <a:avLst>
              <a:gd name="adj" fmla="val 11538"/>
            </a:avLst>
          </a:prstGeom>
          <a:solidFill>
            <a:srgbClr val="26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93392"/>
            <a:ext cx="27432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EF0F6"/>
                </a:solidFill>
                <a:latin typeface="Consolas"/>
              </a:rPr>
              <a:t>gemma4:e2b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993392"/>
            <a:ext cx="10972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EF0F6"/>
                </a:solidFill>
                <a:latin typeface="Calibri"/>
              </a:rPr>
              <a:t>2.3B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993392"/>
            <a:ext cx="100583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EF0F6"/>
                </a:solidFill>
                <a:latin typeface="Calibri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993392"/>
            <a:ext cx="12801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EF0F6"/>
                </a:solidFill>
                <a:latin typeface="Calibri"/>
              </a:rPr>
              <a:t>~3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993392"/>
            <a:ext cx="22860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867F"/>
                </a:solidFill>
                <a:latin typeface="Calibri"/>
              </a:rPr>
              <a:t>→ measured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1993392"/>
            <a:ext cx="224027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AA3B8"/>
                </a:solidFill>
                <a:latin typeface="Calibri"/>
              </a:rPr>
              <a:t>fine for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27432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EF0F6"/>
                </a:solidFill>
                <a:latin typeface="Consolas"/>
              </a:rPr>
              <a:t>gemma4:e4b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468880"/>
            <a:ext cx="10972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EF0F6"/>
                </a:solidFill>
                <a:latin typeface="Calibri"/>
              </a:rPr>
              <a:t>4B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468880"/>
            <a:ext cx="100583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EF0F6"/>
                </a:solidFill>
                <a:latin typeface="Calibri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468880"/>
            <a:ext cx="12801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EF0F6"/>
                </a:solidFill>
                <a:latin typeface="Calibri"/>
              </a:rPr>
              <a:t>~5 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468880"/>
            <a:ext cx="22860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867F"/>
                </a:solidFill>
                <a:latin typeface="Calibri"/>
              </a:rPr>
              <a:t>→ measured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468880"/>
            <a:ext cx="224027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AA3B8"/>
                </a:solidFill>
                <a:latin typeface="Calibri"/>
              </a:rPr>
              <a:t>good all-rounder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884932"/>
            <a:ext cx="11201400" cy="475488"/>
          </a:xfrm>
          <a:prstGeom prst="roundRect">
            <a:avLst>
              <a:gd name="adj" fmla="val 11538"/>
            </a:avLst>
          </a:prstGeom>
          <a:solidFill>
            <a:srgbClr val="26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944368"/>
            <a:ext cx="27432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EF0F6"/>
                </a:solidFill>
                <a:latin typeface="Consolas"/>
              </a:rPr>
              <a:t>gemma4:12b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2944368"/>
            <a:ext cx="10972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EF0F6"/>
                </a:solidFill>
                <a:latin typeface="Calibri"/>
              </a:rPr>
              <a:t>12B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944368"/>
            <a:ext cx="100583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EF0F6"/>
                </a:solidFill>
                <a:latin typeface="Calibri"/>
              </a:rPr>
              <a:t>Q4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2944368"/>
            <a:ext cx="12801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EF0F6"/>
                </a:solidFill>
                <a:latin typeface="Calibri"/>
              </a:rPr>
              <a:t>~8 GB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944368"/>
            <a:ext cx="22860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867F"/>
                </a:solidFill>
                <a:latin typeface="Calibri"/>
              </a:rPr>
              <a:t>→ measured 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944368"/>
            <a:ext cx="224027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AA3B8"/>
                </a:solidFill>
                <a:latin typeface="Calibri"/>
              </a:rPr>
              <a:t>noticeably better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419856"/>
            <a:ext cx="27432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EF0F6"/>
                </a:solidFill>
                <a:latin typeface="Consolas"/>
              </a:rPr>
              <a:t>qwen3.6:27b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3419856"/>
            <a:ext cx="10972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EF0F6"/>
                </a:solidFill>
                <a:latin typeface="Calibri"/>
              </a:rPr>
              <a:t>27B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419856"/>
            <a:ext cx="100583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EF0F6"/>
                </a:solidFill>
                <a:latin typeface="Calibri"/>
              </a:rPr>
              <a:t>Q4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419856"/>
            <a:ext cx="12801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EF0F6"/>
                </a:solidFill>
                <a:latin typeface="Calibri"/>
              </a:rPr>
              <a:t>~17 GB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3419856"/>
            <a:ext cx="22860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7B72"/>
                </a:solidFill>
                <a:latin typeface="Calibri"/>
              </a:rPr>
              <a:t>doesn’t 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3419856"/>
            <a:ext cx="224027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AA3B8"/>
                </a:solidFill>
                <a:latin typeface="Calibri"/>
              </a:rPr>
              <a:t>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835907"/>
            <a:ext cx="11201400" cy="475488"/>
          </a:xfrm>
          <a:prstGeom prst="roundRect">
            <a:avLst>
              <a:gd name="adj" fmla="val 11538"/>
            </a:avLst>
          </a:prstGeom>
          <a:solidFill>
            <a:srgbClr val="26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3895344"/>
            <a:ext cx="27432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EF0F6"/>
                </a:solidFill>
                <a:latin typeface="Consolas"/>
              </a:rPr>
              <a:t>qwen3.6:27b  (rented GPU)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3895344"/>
            <a:ext cx="10972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EF0F6"/>
                </a:solidFill>
                <a:latin typeface="Calibri"/>
              </a:rPr>
              <a:t>27B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3895344"/>
            <a:ext cx="100583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EF0F6"/>
                </a:solidFill>
                <a:latin typeface="Calibri"/>
              </a:rPr>
              <a:t>Q8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3895344"/>
            <a:ext cx="12801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EF0F6"/>
                </a:solidFill>
                <a:latin typeface="Calibri"/>
              </a:rPr>
              <a:t>30–60 GB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3895344"/>
            <a:ext cx="22860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8CD9A0"/>
                </a:solidFill>
                <a:latin typeface="Calibri"/>
              </a:rPr>
              <a:t>30–60 t/s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3895344"/>
            <a:ext cx="224027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AA3B8"/>
                </a:solidFill>
                <a:latin typeface="Calibri"/>
              </a:rPr>
              <a:t>frontier coding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4343400"/>
            <a:ext cx="11201400" cy="1691640"/>
          </a:xfrm>
          <a:prstGeom prst="roundRect">
            <a:avLst>
              <a:gd name="adj" fmla="val 6486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553712"/>
            <a:ext cx="106070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867F"/>
                </a:solidFill>
                <a:latin typeface="Calibri"/>
              </a:rPr>
              <a:t>Rule of thumb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919472"/>
            <a:ext cx="106070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EF0F6"/>
                </a:solidFill>
                <a:latin typeface="Consolas"/>
              </a:rPr>
              <a:t>RAM  ≈  parameters × bytes per weight  +  context overhead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413248"/>
            <a:ext cx="106070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3B8"/>
                </a:solidFill>
                <a:latin typeface="Calibri"/>
              </a:rPr>
              <a:t>FP16 = 2 bytes/param · Q4 ≈ 0.5 bytes/param   →   a 27B model: 54 GB in FP16, ~15 GB in Q4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02920" y="438912"/>
            <a:ext cx="402336" cy="365760"/>
          </a:xfrm>
          <a:prstGeom prst="hexagon">
            <a:avLst/>
          </a:prstGeom>
          <a:noFill/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40233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867F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438912"/>
            <a:ext cx="73152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A3B8"/>
                </a:solidFill>
                <a:latin typeface="Calibri"/>
              </a:rPr>
              <a:t>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F7789"/>
                </a:solidFill>
                <a:latin typeface="Consola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556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6"/>
                </a:solidFill>
                <a:latin typeface="Calibri"/>
              </a:rPr>
              <a:t>One formula explains the entire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201400" cy="1051560"/>
          </a:xfrm>
          <a:prstGeom prst="roundRect">
            <a:avLst>
              <a:gd name="adj" fmla="val 10434"/>
            </a:avLst>
          </a:prstGeom>
          <a:solidFill>
            <a:srgbClr val="14161E"/>
          </a:solidFill>
          <a:ln w="15875">
            <a:solidFill>
              <a:srgbClr val="8A4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1201400" cy="1051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867F"/>
                </a:solidFill>
                <a:latin typeface="Consolas"/>
              </a:rPr>
              <a:t>tokens/s   ≈   memory bandwidth  ÷  model size in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11201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9AA3B8"/>
                </a:solidFill>
                <a:latin typeface="Calibri"/>
              </a:rPr>
              <a:t>Generating one token reads every weight once — inference is memory-bound, not compute-bound.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83280"/>
            <a:ext cx="2880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 i="0">
                <a:solidFill>
                  <a:srgbClr val="EEF0F6"/>
                </a:solidFill>
                <a:latin typeface="Calibri"/>
              </a:rPr>
              <a:t>Laptop CPU · DDR5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396996"/>
            <a:ext cx="387803" cy="237744"/>
          </a:xfrm>
          <a:prstGeom prst="roundRect">
            <a:avLst>
              <a:gd name="adj" fmla="val 23076"/>
            </a:avLst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7115" y="3383280"/>
            <a:ext cx="1280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EF0F6"/>
                </a:solidFill>
                <a:latin typeface="Consolas"/>
              </a:rPr>
              <a:t>100 GB/s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13048"/>
            <a:ext cx="2880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 i="0">
                <a:solidFill>
                  <a:srgbClr val="EEF0F6"/>
                </a:solidFill>
                <a:latin typeface="Calibri"/>
              </a:rPr>
              <a:t>Ryzen AI Max 395 · unified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826763"/>
            <a:ext cx="992777" cy="237744"/>
          </a:xfrm>
          <a:prstGeom prst="roundRect">
            <a:avLst>
              <a:gd name="adj" fmla="val 23076"/>
            </a:avLst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2089" y="3813048"/>
            <a:ext cx="1280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EF0F6"/>
                </a:solidFill>
                <a:latin typeface="Consolas"/>
              </a:rPr>
              <a:t>256 GB/s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42816"/>
            <a:ext cx="2880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 i="0">
                <a:solidFill>
                  <a:srgbClr val="EEF0F6"/>
                </a:solidFill>
                <a:latin typeface="Calibri"/>
              </a:rPr>
              <a:t>Mac M4 Max · unified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4256531"/>
            <a:ext cx="2117407" cy="237744"/>
          </a:xfrm>
          <a:prstGeom prst="roundRect">
            <a:avLst>
              <a:gd name="adj" fmla="val 23076"/>
            </a:avLst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56719" y="4242816"/>
            <a:ext cx="1280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EF0F6"/>
                </a:solidFill>
                <a:latin typeface="Consolas"/>
              </a:rPr>
              <a:t>546 GB/s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72583"/>
            <a:ext cx="2880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 i="0">
                <a:solidFill>
                  <a:srgbClr val="EEF0F6"/>
                </a:solidFill>
                <a:latin typeface="Calibri"/>
              </a:rPr>
              <a:t>RTX 3090 · GDDR6X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686299"/>
            <a:ext cx="3629841" cy="237744"/>
          </a:xfrm>
          <a:prstGeom prst="roundRect">
            <a:avLst>
              <a:gd name="adj" fmla="val 23076"/>
            </a:avLst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153" y="4672583"/>
            <a:ext cx="1280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EF0F6"/>
                </a:solidFill>
                <a:latin typeface="Consolas"/>
              </a:rPr>
              <a:t>936 GB/s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02351"/>
            <a:ext cx="2880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 i="0">
                <a:solidFill>
                  <a:srgbClr val="EEF0F6"/>
                </a:solidFill>
                <a:latin typeface="Calibri"/>
              </a:rPr>
              <a:t>RTX 5090 · GDDR7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5116067"/>
            <a:ext cx="6949440" cy="237744"/>
          </a:xfrm>
          <a:prstGeom prst="roundRect">
            <a:avLst>
              <a:gd name="adj" fmla="val 23076"/>
            </a:avLst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88752" y="5102351"/>
            <a:ext cx="1280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EF0F6"/>
                </a:solidFill>
                <a:latin typeface="Consolas"/>
              </a:rPr>
              <a:t>1792 GB/s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623559"/>
            <a:ext cx="804672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F0F6"/>
                </a:solidFill>
                <a:latin typeface="Calibri"/>
              </a:rPr>
              <a:t>On this laptop:  </a:t>
            </a:r>
            <a:r>
              <a:rPr sz="1250" b="0" i="0">
                <a:solidFill>
                  <a:srgbClr val="9AA3B8"/>
                </a:solidFill>
                <a:latin typeface="Consolas"/>
              </a:rPr>
              <a:t>4B Q4 ≈ 40 t/s — pleasant      27B Q4 ≈ 6 t/s — painful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02920" y="438912"/>
            <a:ext cx="402336" cy="365760"/>
          </a:xfrm>
          <a:prstGeom prst="hexagon">
            <a:avLst/>
          </a:prstGeom>
          <a:noFill/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40233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867F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438912"/>
            <a:ext cx="73152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A3B8"/>
                </a:solidFill>
                <a:latin typeface="Calibri"/>
              </a:rPr>
              <a:t>HARDWARE · WHAT DOES SPEED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F7789"/>
                </a:solidFill>
                <a:latin typeface="Consola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556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6"/>
                </a:solidFill>
                <a:latin typeface="Calibri"/>
              </a:rPr>
              <a:t>The buyer’s table (mid-2026)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3017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F7789"/>
                </a:solidFill>
                <a:latin typeface="Calibri"/>
              </a:rPr>
              <a:t>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27632"/>
            <a:ext cx="164591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F7789"/>
                </a:solidFill>
                <a:latin typeface="Calibri"/>
              </a:rPr>
              <a:t>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627632"/>
            <a:ext cx="1371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F7789"/>
                </a:solidFill>
                <a:latin typeface="Calibri"/>
              </a:rPr>
              <a:t>BANDWIDTH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79" y="1627632"/>
            <a:ext cx="146303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F7789"/>
                </a:solidFill>
                <a:latin typeface="Calibri"/>
              </a:rPr>
              <a:t>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59" y="1627632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F7789"/>
                </a:solidFill>
                <a:latin typeface="Calibri"/>
              </a:rPr>
              <a:t>SWEET SPOT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19" y="1627632"/>
            <a:ext cx="1051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F7789"/>
                </a:solidFill>
                <a:latin typeface="Calibri"/>
              </a:rPr>
              <a:t>QWEN 27B?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01952"/>
            <a:ext cx="11201400" cy="457200"/>
          </a:xfrm>
          <a:prstGeom prst="roundRect">
            <a:avLst>
              <a:gd name="adj" fmla="val 12000"/>
            </a:avLst>
          </a:prstGeom>
          <a:solidFill>
            <a:srgbClr val="26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5681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F0F6"/>
                </a:solidFill>
                <a:latin typeface="Calibri"/>
              </a:rPr>
              <a:t>This laptop (CPU)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956816"/>
            <a:ext cx="164591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16 GB shared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956816"/>
            <a:ext cx="1371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100 GB/s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1956816"/>
            <a:ext cx="146303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owned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59" y="1956816"/>
            <a:ext cx="21031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≤ 4B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19" y="1956816"/>
            <a:ext cx="10972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7B72"/>
                </a:solidFill>
                <a:latin typeface="Calibri"/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1401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F0F6"/>
                </a:solidFill>
                <a:latin typeface="Calibri"/>
              </a:rPr>
              <a:t>Used RTX 3090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414016"/>
            <a:ext cx="164591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24 GB VRAM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414016"/>
            <a:ext cx="1371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936 GB/s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2414016"/>
            <a:ext cx="146303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€600–700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2414016"/>
            <a:ext cx="21031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best t/s per 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19" y="2414016"/>
            <a:ext cx="10972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CD9A0"/>
                </a:solidFill>
                <a:latin typeface="Calibri"/>
              </a:rPr>
              <a:t>yes · fast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816352"/>
            <a:ext cx="11201400" cy="457200"/>
          </a:xfrm>
          <a:prstGeom prst="roundRect">
            <a:avLst>
              <a:gd name="adj" fmla="val 12000"/>
            </a:avLst>
          </a:prstGeom>
          <a:solidFill>
            <a:srgbClr val="26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87121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F0F6"/>
                </a:solidFill>
                <a:latin typeface="Calibri"/>
              </a:rPr>
              <a:t>RTX 5090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871216"/>
            <a:ext cx="164591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32 GB VRAM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2871216"/>
            <a:ext cx="1371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1792 GB/s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79" y="2871216"/>
            <a:ext cx="146303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€2,600+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59" y="2871216"/>
            <a:ext cx="21031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70B Q4, 45+ t/s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19" y="2871216"/>
            <a:ext cx="10972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CD9A0"/>
                </a:solidFill>
                <a:latin typeface="Calibri"/>
              </a:rPr>
              <a:t>yes · v.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32841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F0F6"/>
                </a:solidFill>
                <a:latin typeface="Calibri"/>
              </a:rPr>
              <a:t>Ryzen AI Max+ 395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3328416"/>
            <a:ext cx="164591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128 GB unified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328416"/>
            <a:ext cx="1371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256 GB/s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79" y="3328416"/>
            <a:ext cx="146303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€1,500–2,000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59" y="3328416"/>
            <a:ext cx="21031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big models, slowly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19" y="3328416"/>
            <a:ext cx="10972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C66B"/>
                </a:solidFill>
                <a:latin typeface="Calibri"/>
              </a:rPr>
              <a:t>yes · medium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730752"/>
            <a:ext cx="11201400" cy="457200"/>
          </a:xfrm>
          <a:prstGeom prst="roundRect">
            <a:avLst>
              <a:gd name="adj" fmla="val 12000"/>
            </a:avLst>
          </a:prstGeom>
          <a:solidFill>
            <a:srgbClr val="26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378561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F0F6"/>
                </a:solidFill>
                <a:latin typeface="Calibri"/>
              </a:rPr>
              <a:t>Mac Studio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3785616"/>
            <a:ext cx="164591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512 GB unified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3785616"/>
            <a:ext cx="1371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546–819 GB/s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79" y="3785616"/>
            <a:ext cx="146303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€2,500+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59" y="3785616"/>
            <a:ext cx="21031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70B @ 20–30 t/s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19" y="3785616"/>
            <a:ext cx="10972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CD9A0"/>
                </a:solidFill>
                <a:latin typeface="Calibri"/>
              </a:rPr>
              <a:t>yes · fast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24281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F0F6"/>
                </a:solidFill>
                <a:latin typeface="Calibri"/>
              </a:rPr>
              <a:t>Rented GPU (vast.ai)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4242816"/>
            <a:ext cx="164591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any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4242816"/>
            <a:ext cx="1371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any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79" y="4242816"/>
            <a:ext cx="146303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€0.30–0.70/h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59" y="4242816"/>
            <a:ext cx="21031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alibri"/>
              </a:rPr>
              <a:t>try before buying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19" y="4242816"/>
            <a:ext cx="10972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CD9A0"/>
                </a:solidFill>
                <a:latin typeface="Calibri"/>
              </a:rPr>
              <a:t>yes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5074920"/>
            <a:ext cx="3611880" cy="1051560"/>
          </a:xfrm>
          <a:prstGeom prst="roundRect">
            <a:avLst>
              <a:gd name="adj" fmla="val 8695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4088" y="5212080"/>
            <a:ext cx="3246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867F"/>
                </a:solidFill>
                <a:latin typeface="Calibri"/>
              </a:rPr>
              <a:t>Used 3090 = the Geheimtipp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" y="5513832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same 24 GB as a 4090 at ⅓ the price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43400" y="5074920"/>
            <a:ext cx="3611880" cy="1051560"/>
          </a:xfrm>
          <a:prstGeom prst="roundRect">
            <a:avLst>
              <a:gd name="adj" fmla="val 8695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44568" y="5212080"/>
            <a:ext cx="3246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867F"/>
                </a:solidFill>
                <a:latin typeface="Calibri"/>
              </a:rPr>
              <a:t>Beware the VRAM cliff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44568" y="5513832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doesn’t fit in VRAM → speed falls off a cliff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83880" y="5074920"/>
            <a:ext cx="3611880" cy="1051560"/>
          </a:xfrm>
          <a:prstGeom prst="roundRect">
            <a:avLst>
              <a:gd name="adj" fmla="val 8695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85048" y="5212080"/>
            <a:ext cx="3246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867F"/>
                </a:solidFill>
                <a:latin typeface="Calibri"/>
              </a:rPr>
              <a:t>CPU is fine ≤ 4B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85048" y="5513832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that’s the revolution — not the €3,000 GPU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02920" y="438912"/>
            <a:ext cx="402336" cy="365760"/>
          </a:xfrm>
          <a:prstGeom prst="hexagon">
            <a:avLst/>
          </a:prstGeom>
          <a:noFill/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40233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867F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438912"/>
            <a:ext cx="73152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A3B8"/>
                </a:solidFill>
                <a:latin typeface="Calibri"/>
              </a:rPr>
              <a:t>QUANTIZATION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F7789"/>
                </a:solidFill>
                <a:latin typeface="Consola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556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6"/>
                </a:solidFill>
                <a:latin typeface="Calibri"/>
              </a:rPr>
              <a:t>JPEG for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EF0F6"/>
                </a:solidFill>
                <a:latin typeface="Calibri"/>
              </a:rPr>
              <a:t>Weights are just numbers. Quantization stores them with fewer bits — lossy, like JPEG, but you barely notice.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51206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867F"/>
                </a:solidFill>
                <a:latin typeface="Consolas"/>
              </a:rPr>
              <a:t>FP16 → Q4 = 4× smaller, ~same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399032"/>
            <a:ext cx="2743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F7789"/>
                </a:solidFill>
                <a:latin typeface="Calibri"/>
              </a:rPr>
              <a:t>SIZE (4B 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399032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F7789"/>
                </a:solidFill>
                <a:latin typeface="Calibri"/>
              </a:rPr>
              <a:t>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691640"/>
            <a:ext cx="5669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EF0F6"/>
                </a:solidFill>
                <a:latin typeface="Consolas"/>
              </a:rPr>
              <a:t>FP16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09928"/>
            <a:ext cx="2286000" cy="219456"/>
          </a:xfrm>
          <a:prstGeom prst="roundRect">
            <a:avLst>
              <a:gd name="adj" fmla="val 20833"/>
            </a:avLst>
          </a:prstGeom>
          <a:solidFill>
            <a:srgbClr val="3A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1691640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B8"/>
                </a:solidFill>
                <a:latin typeface="Consolas"/>
              </a:rPr>
              <a:t>8.0 GB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709928"/>
            <a:ext cx="1828800" cy="219456"/>
          </a:xfrm>
          <a:prstGeom prst="roundRect">
            <a:avLst>
              <a:gd name="adj" fmla="val 20833"/>
            </a:avLst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65960"/>
            <a:ext cx="53949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AA3B8"/>
                </a:solidFill>
                <a:latin typeface="Calibri"/>
              </a:rPr>
              <a:t>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350008"/>
            <a:ext cx="5669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EF0F6"/>
                </a:solidFill>
                <a:latin typeface="Consolas"/>
              </a:rPr>
              <a:t>Q8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368296"/>
            <a:ext cx="1228725" cy="219456"/>
          </a:xfrm>
          <a:prstGeom prst="roundRect">
            <a:avLst>
              <a:gd name="adj" fmla="val 20833"/>
            </a:avLst>
          </a:prstGeom>
          <a:solidFill>
            <a:srgbClr val="3A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1237" y="2350008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B8"/>
                </a:solidFill>
                <a:latin typeface="Consolas"/>
              </a:rPr>
              <a:t>4.3 GB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368296"/>
            <a:ext cx="1828800" cy="219456"/>
          </a:xfrm>
          <a:prstGeom prst="roundRect">
            <a:avLst>
              <a:gd name="adj" fmla="val 20833"/>
            </a:avLst>
          </a:prstGeom>
          <a:solidFill>
            <a:srgbClr val="8C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624328"/>
            <a:ext cx="53949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8CD9A0"/>
                </a:solidFill>
                <a:latin typeface="Calibri"/>
              </a:rPr>
              <a:t>indistinguishable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008376"/>
            <a:ext cx="5669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EF0F6"/>
                </a:solidFill>
                <a:latin typeface="Consolas"/>
              </a:rPr>
              <a:t>Q4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026664"/>
            <a:ext cx="685800" cy="219456"/>
          </a:xfrm>
          <a:prstGeom prst="roundRect">
            <a:avLst>
              <a:gd name="adj" fmla="val 20833"/>
            </a:avLst>
          </a:prstGeom>
          <a:solidFill>
            <a:srgbClr val="3A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68312" y="3008376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B8"/>
                </a:solidFill>
                <a:latin typeface="Consolas"/>
              </a:rPr>
              <a:t>2.4 GB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3026664"/>
            <a:ext cx="1792224" cy="219456"/>
          </a:xfrm>
          <a:prstGeom prst="roundRect">
            <a:avLst>
              <a:gd name="adj" fmla="val 20833"/>
            </a:avLst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282696"/>
            <a:ext cx="53949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FF867F"/>
                </a:solidFill>
                <a:latin typeface="Calibri"/>
              </a:rPr>
              <a:t>sweet spot ← use this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666744"/>
            <a:ext cx="5669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EF0F6"/>
                </a:solidFill>
                <a:latin typeface="Consolas"/>
              </a:rPr>
              <a:t>Q2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685031"/>
            <a:ext cx="428625" cy="219456"/>
          </a:xfrm>
          <a:prstGeom prst="roundRect">
            <a:avLst>
              <a:gd name="adj" fmla="val 20833"/>
            </a:avLst>
          </a:prstGeom>
          <a:solidFill>
            <a:srgbClr val="3A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1137" y="3666744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B8"/>
                </a:solidFill>
                <a:latin typeface="Consolas"/>
              </a:rPr>
              <a:t>1.5 GB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3685031"/>
            <a:ext cx="1536192" cy="219456"/>
          </a:xfrm>
          <a:prstGeom prst="roundRect">
            <a:avLst>
              <a:gd name="adj" fmla="val 20833"/>
            </a:avLst>
          </a:prstGeom>
          <a:solidFill>
            <a:srgbClr val="FF7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941063"/>
            <a:ext cx="53949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FF7B72"/>
                </a:solidFill>
                <a:latin typeface="Calibri"/>
              </a:rPr>
              <a:t>visibly degraded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526280"/>
            <a:ext cx="6720840" cy="1600200"/>
          </a:xfrm>
          <a:prstGeom prst="roundRect">
            <a:avLst>
              <a:gd name="adj" fmla="val 5714"/>
            </a:avLst>
          </a:prstGeom>
          <a:solidFill>
            <a:srgbClr val="14161E"/>
          </a:solidFill>
          <a:ln w="12700">
            <a:solidFill>
              <a:srgbClr val="3A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" y="4663440"/>
            <a:ext cx="82296" cy="82296"/>
          </a:xfrm>
          <a:prstGeom prst="ellipse">
            <a:avLst/>
          </a:prstGeom>
          <a:solidFill>
            <a:srgbClr val="FF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" y="4663440"/>
            <a:ext cx="82296" cy="82296"/>
          </a:xfrm>
          <a:prstGeom prst="ellipse">
            <a:avLst/>
          </a:prstGeom>
          <a:solidFill>
            <a:srgbClr val="FFC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78408" y="4663440"/>
            <a:ext cx="82296" cy="82296"/>
          </a:xfrm>
          <a:prstGeom prst="ellipse">
            <a:avLst/>
          </a:prstGeom>
          <a:solidFill>
            <a:srgbClr val="8C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4617720"/>
            <a:ext cx="5897879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F7789"/>
                </a:solidFill>
                <a:latin typeface="Consolas"/>
              </a:rPr>
              <a:t>demo — q8 vs q4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928616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867F"/>
                </a:solidFill>
                <a:latin typeface="Consolas"/>
              </a:rPr>
              <a:t>$ </a:t>
            </a:r>
            <a:r>
              <a:rPr sz="1200" b="0" i="0">
                <a:solidFill>
                  <a:srgbClr val="EEF0F6"/>
                </a:solidFill>
                <a:latin typeface="Consolas"/>
              </a:rPr>
              <a:t>ollama pull gemma4:e2b-it-q8_0    # vs default q4_K_M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161788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789"/>
                </a:solidFill>
                <a:latin typeface="Consolas"/>
              </a:rPr>
              <a:t># same prompt on both → compare RAM, speed, 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394960"/>
            <a:ext cx="63093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789"/>
                </a:solidFill>
                <a:latin typeface="Consolas"/>
              </a:rPr>
              <a:t># spoiler: you will not spot the difference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35240" y="452628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26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09560" y="4736592"/>
            <a:ext cx="3566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6"/>
                </a:solidFill>
                <a:latin typeface="Calibri"/>
              </a:rPr>
              <a:t>Under the hood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5047488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A3B8"/>
                </a:solidFill>
                <a:latin typeface="Calibri"/>
              </a:rPr>
              <a:t>GGUF = the quantized model file format.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A3B8"/>
                </a:solidFill>
                <a:latin typeface="Calibri"/>
              </a:rPr>
              <a:t>llama.cpp = the engine beneath Ollama.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02920" y="438912"/>
            <a:ext cx="402336" cy="365760"/>
          </a:xfrm>
          <a:prstGeom prst="hexagon">
            <a:avLst/>
          </a:prstGeom>
          <a:noFill/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40233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867F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438912"/>
            <a:ext cx="73152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A3B8"/>
                </a:solidFill>
                <a:latin typeface="Calibri"/>
              </a:rPr>
              <a:t>INFERENCE VS.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F7789"/>
                </a:solidFill>
                <a:latin typeface="Consola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556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6"/>
                </a:solidFill>
                <a:latin typeface="Calibri"/>
              </a:rPr>
              <a:t>You can run it. You cannot train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852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F7789"/>
                </a:solidFill>
                <a:latin typeface="Calibri"/>
              </a:rPr>
              <a:t>MEMORY FOR A 4B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19202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EF0F6"/>
                </a:solidFill>
                <a:latin typeface="Calibri"/>
              </a:rPr>
              <a:t>Inference Q4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984248"/>
            <a:ext cx="292608" cy="237744"/>
          </a:xfrm>
          <a:prstGeom prst="roundRect">
            <a:avLst>
              <a:gd name="adj" fmla="val 19230"/>
            </a:avLst>
          </a:prstGeom>
          <a:solidFill>
            <a:srgbClr val="8C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965960"/>
            <a:ext cx="2377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CD9A0"/>
                </a:solidFill>
                <a:latin typeface="Consolas"/>
              </a:rPr>
              <a:t>2.5 GB — easy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41448"/>
            <a:ext cx="19202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EF0F6"/>
                </a:solidFill>
                <a:latin typeface="Calibri"/>
              </a:rPr>
              <a:t>Inference FP16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2459736"/>
            <a:ext cx="914400" cy="237744"/>
          </a:xfrm>
          <a:prstGeom prst="roundRect">
            <a:avLst>
              <a:gd name="adj" fmla="val 19230"/>
            </a:avLst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441448"/>
            <a:ext cx="2377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8"/>
                </a:solidFill>
                <a:latin typeface="Consolas"/>
              </a:rPr>
              <a:t>8 GB — tight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19202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C66B"/>
                </a:solidFill>
                <a:latin typeface="Calibri"/>
              </a:rPr>
              <a:t>Full 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2935224"/>
            <a:ext cx="457200" cy="237744"/>
          </a:xfrm>
          <a:prstGeom prst="rect">
            <a:avLst/>
          </a:prstGeom>
          <a:solidFill>
            <a:srgbClr val="C46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63240" y="2935224"/>
            <a:ext cx="457200" cy="237744"/>
          </a:xfrm>
          <a:prstGeom prst="rect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2935224"/>
            <a:ext cx="914400" cy="237744"/>
          </a:xfrm>
          <a:prstGeom prst="rect">
            <a:avLst/>
          </a:prstGeom>
          <a:solidFill>
            <a:srgbClr val="FFC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935224"/>
            <a:ext cx="1028700" cy="237744"/>
          </a:xfrm>
          <a:prstGeom prst="rect">
            <a:avLst/>
          </a:prstGeom>
          <a:solidFill>
            <a:srgbClr val="FFE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3268" y="2916936"/>
            <a:ext cx="2377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7B72"/>
                </a:solidFill>
                <a:latin typeface="Consolas"/>
              </a:rPr>
              <a:t>50+ GB — 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3342132"/>
            <a:ext cx="118872" cy="118872"/>
          </a:xfrm>
          <a:prstGeom prst="roundRect">
            <a:avLst>
              <a:gd name="adj" fmla="val 23076"/>
            </a:avLst>
          </a:prstGeom>
          <a:solidFill>
            <a:srgbClr val="C46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3300984"/>
            <a:ext cx="14630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B8"/>
                </a:solidFill>
                <a:latin typeface="Calibri"/>
              </a:rPr>
              <a:t>weights 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01448" y="3342132"/>
            <a:ext cx="118872" cy="118872"/>
          </a:xfrm>
          <a:prstGeom prst="roundRect">
            <a:avLst>
              <a:gd name="adj" fmla="val 23076"/>
            </a:avLst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75184" y="3300984"/>
            <a:ext cx="14630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B8"/>
                </a:solidFill>
                <a:latin typeface="Calibri"/>
              </a:rPr>
              <a:t>gradients 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1263" y="3342132"/>
            <a:ext cx="118872" cy="118872"/>
          </a:xfrm>
          <a:prstGeom prst="roundRect">
            <a:avLst>
              <a:gd name="adj" fmla="val 23076"/>
            </a:avLst>
          </a:prstGeom>
          <a:solidFill>
            <a:srgbClr val="FFC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54999" y="3300984"/>
            <a:ext cx="14630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B8"/>
                </a:solidFill>
                <a:latin typeface="Calibri"/>
              </a:rPr>
              <a:t>optimizer 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8450" y="3342132"/>
            <a:ext cx="118872" cy="118872"/>
          </a:xfrm>
          <a:prstGeom prst="roundRect">
            <a:avLst>
              <a:gd name="adj" fmla="val 23076"/>
            </a:avLst>
          </a:prstGeom>
          <a:solidFill>
            <a:srgbClr val="FFE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2186" y="3300984"/>
            <a:ext cx="14630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B8"/>
                </a:solidFill>
                <a:latin typeface="Calibri"/>
              </a:rPr>
              <a:t>activations 18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520440" y="1874519"/>
            <a:ext cx="0" cy="1828801"/>
          </a:xfrm>
          <a:prstGeom prst="line">
            <a:avLst/>
          </a:prstGeom>
          <a:ln w="15875">
            <a:solidFill>
              <a:srgbClr val="6F77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93592" y="3593592"/>
            <a:ext cx="22860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F7789"/>
                </a:solidFill>
                <a:latin typeface="Calibri"/>
              </a:rPr>
              <a:t>16 GB — this laptop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041648"/>
            <a:ext cx="60350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3B8"/>
                </a:solidFill>
                <a:latin typeface="Calibri"/>
              </a:rPr>
              <a:t>Training a 27B: ~350+ GB → multi-GPU cluster.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526280"/>
            <a:ext cx="6035040" cy="1554480"/>
          </a:xfrm>
          <a:prstGeom prst="roundRect">
            <a:avLst>
              <a:gd name="adj" fmla="val 7058"/>
            </a:avLst>
          </a:prstGeom>
          <a:solidFill>
            <a:srgbClr val="2A2E3C"/>
          </a:solidFill>
          <a:ln w="12700">
            <a:solidFill>
              <a:srgbClr val="8A4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526280"/>
            <a:ext cx="6035040" cy="155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EEF0F6"/>
                </a:solidFill>
                <a:latin typeface="Calibri"/>
              </a:rPr>
              <a:t>Inference is reading the book.</a:t>
            </a:r>
          </a:p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867F"/>
                </a:solidFill>
                <a:latin typeface="Calibri"/>
              </a:rPr>
              <a:t>Training is writing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1554480"/>
            <a:ext cx="4754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F7789"/>
                </a:solidFill>
                <a:latin typeface="Calibri"/>
              </a:rPr>
              <a:t>WHY THE GAP?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0" y="1965960"/>
            <a:ext cx="4754880" cy="1188720"/>
          </a:xfrm>
          <a:prstGeom prst="roundRect">
            <a:avLst>
              <a:gd name="adj" fmla="val 7692"/>
            </a:avLst>
          </a:prstGeom>
          <a:solidFill>
            <a:srgbClr val="26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2112264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EF0F6"/>
                </a:solidFill>
                <a:latin typeface="Calibri"/>
              </a:rPr>
              <a:t>10–20× the memory of Q4 inference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2532888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backprop keeps gradients + Adam states + activations alongside the weights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0" y="3337560"/>
            <a:ext cx="4754880" cy="1188720"/>
          </a:xfrm>
          <a:prstGeom prst="roundRect">
            <a:avLst>
              <a:gd name="adj" fmla="val 7692"/>
            </a:avLst>
          </a:prstGeom>
          <a:solidFill>
            <a:srgbClr val="26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8040" y="3483864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EF0F6"/>
                </a:solidFill>
                <a:latin typeface="Calibri"/>
              </a:rPr>
              <a:t>Training can’t be 4-bit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3904487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tiny gradient updates vanish in coarse number formats — precision is required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9440" y="4709160"/>
            <a:ext cx="4754880" cy="1188720"/>
          </a:xfrm>
          <a:prstGeom prst="roundRect">
            <a:avLst>
              <a:gd name="adj" fmla="val 7692"/>
            </a:avLst>
          </a:prstGeom>
          <a:solidFill>
            <a:srgbClr val="26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4855464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EF0F6"/>
                </a:solidFill>
                <a:latin typeface="Calibri"/>
              </a:rPr>
              <a:t>And it’s compute, too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5276088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Gemma-class pretraining: thousands of GPUs for weeks — this laptop: centuries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02920" y="438912"/>
            <a:ext cx="402336" cy="365760"/>
          </a:xfrm>
          <a:prstGeom prst="hexagon">
            <a:avLst/>
          </a:prstGeom>
          <a:noFill/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40233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867F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438912"/>
            <a:ext cx="73152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A3B8"/>
                </a:solidFill>
                <a:latin typeface="Calibri"/>
              </a:rPr>
              <a:t>THE LOOPHOLE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F7789"/>
                </a:solidFill>
                <a:latin typeface="Consola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556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6"/>
                </a:solidFill>
                <a:latin typeface="Calibri"/>
              </a:rPr>
              <a:t>Fine-tuning at home: LoRA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32918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EF0F6"/>
                </a:solidFill>
                <a:latin typeface="Calibri"/>
              </a:rPr>
              <a:t>Base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3291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4B params · quantized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834640"/>
            <a:ext cx="2011680" cy="502920"/>
          </a:xfrm>
          <a:prstGeom prst="roundRect">
            <a:avLst>
              <a:gd name="adj" fmla="val 18181"/>
            </a:avLst>
          </a:prstGeom>
          <a:solidFill>
            <a:srgbClr val="14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834640"/>
            <a:ext cx="201168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AA3B8"/>
                </a:solidFill>
                <a:latin typeface="Consolas"/>
              </a:rPr>
              <a:t>FROZEN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20440"/>
            <a:ext cx="3291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6F7789"/>
                </a:solidFill>
                <a:latin typeface="Calibri"/>
              </a:rPr>
              <a:t>0% trained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651760"/>
            <a:ext cx="5486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867F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148840"/>
            <a:ext cx="1051560" cy="777240"/>
          </a:xfrm>
          <a:prstGeom prst="roundRect">
            <a:avLst>
              <a:gd name="adj" fmla="val 11764"/>
            </a:avLst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48840"/>
            <a:ext cx="1051560" cy="777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0232D"/>
                </a:solidFill>
                <a:latin typeface="Calibri"/>
              </a:rPr>
              <a:t>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063240"/>
            <a:ext cx="1051560" cy="777240"/>
          </a:xfrm>
          <a:prstGeom prst="roundRect">
            <a:avLst>
              <a:gd name="adj" fmla="val 11764"/>
            </a:avLst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063240"/>
            <a:ext cx="1051560" cy="777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0232D"/>
                </a:solidFill>
                <a:latin typeface="Calibr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3977639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AA3B8"/>
                </a:solidFill>
                <a:latin typeface="Calibri"/>
              </a:rPr>
              <a:t>two tiny matrices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AA3B8"/>
                </a:solidFill>
                <a:latin typeface="Calibri"/>
              </a:rPr>
              <a:t>~0.1–1% of params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651760"/>
            <a:ext cx="5486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867F"/>
                </a:solidFill>
                <a:latin typeface="Calibri"/>
              </a:rPr>
              <a:t>=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331720"/>
            <a:ext cx="2148840" cy="1325880"/>
          </a:xfrm>
          <a:prstGeom prst="roundRect">
            <a:avLst>
              <a:gd name="adj" fmla="val 8275"/>
            </a:avLst>
          </a:prstGeom>
          <a:solidFill>
            <a:srgbClr val="2A2E3C"/>
          </a:solidFill>
          <a:ln w="19050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514600"/>
            <a:ext cx="21488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EF0F6"/>
                </a:solidFill>
                <a:latin typeface="Calibri"/>
              </a:rPr>
              <a:t>Your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AA3B8"/>
                </a:solidFill>
                <a:latin typeface="Calibri"/>
              </a:rPr>
              <a:t>custom style,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AA3B8"/>
                </a:solidFill>
                <a:latin typeface="Calibri"/>
              </a:rPr>
              <a:t>same brain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90288"/>
            <a:ext cx="8001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867F"/>
                </a:solidFill>
                <a:latin typeface="Calibri"/>
              </a:rPr>
              <a:t>QLoRA:</a:t>
            </a:r>
            <a:r>
              <a:rPr sz="1350" b="0" i="0">
                <a:solidFill>
                  <a:srgbClr val="9AA3B8"/>
                </a:solidFill>
                <a:latin typeface="Calibri"/>
              </a:rPr>
              <a:t>  train on top of the quantized base  →  Gemma 4 E4B fine-tunes in ~8–12 GB — a free Colab T4 is enough (Unsloth).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166360"/>
            <a:ext cx="8001000" cy="960120"/>
          </a:xfrm>
          <a:prstGeom prst="roundRect">
            <a:avLst>
              <a:gd name="adj" fmla="val 9523"/>
            </a:avLst>
          </a:prstGeom>
          <a:solidFill>
            <a:srgbClr val="26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285232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0F6"/>
                </a:solidFill>
                <a:latin typeface="Calibri"/>
              </a:rPr>
              <a:t>Demo LoRA idea:  </a:t>
            </a:r>
            <a:r>
              <a:rPr sz="1250" b="0" i="0">
                <a:solidFill>
                  <a:srgbClr val="9AA3B8"/>
                </a:solidFill>
                <a:latin typeface="Calibri"/>
              </a:rPr>
              <a:t>Gemma antwortet auf Bielefelder Platt — oder in astreinem Amtsdeutsch. Trained before the talk, shown live in Ollama.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1828800"/>
            <a:ext cx="2880360" cy="1920240"/>
          </a:xfrm>
          <a:prstGeom prst="roundRect">
            <a:avLst>
              <a:gd name="adj" fmla="val 5714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1993392"/>
            <a:ext cx="24688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CD9A0"/>
                </a:solidFill>
                <a:latin typeface="Calibri"/>
              </a:rPr>
              <a:t>LoRA 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EF0F6"/>
                </a:solidFill>
                <a:latin typeface="Calibri"/>
              </a:rPr>
              <a:t>style &amp; tone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EF0F6"/>
                </a:solidFill>
                <a:latin typeface="Calibri"/>
              </a:rPr>
              <a:t>output format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EF0F6"/>
                </a:solidFill>
                <a:latin typeface="Calibri"/>
              </a:rPr>
              <a:t>domain vocabulary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3977639"/>
            <a:ext cx="2880360" cy="1600200"/>
          </a:xfrm>
          <a:prstGeom prst="roundRect">
            <a:avLst>
              <a:gd name="adj" fmla="val 6857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4142232"/>
            <a:ext cx="24688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7B72"/>
                </a:solidFill>
                <a:latin typeface="Calibri"/>
              </a:rPr>
              <a:t>LoRA can’t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48056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EF0F6"/>
                </a:solidFill>
                <a:latin typeface="Calibri"/>
              </a:rPr>
              <a:t>new knowledge at scale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EF0F6"/>
                </a:solidFill>
                <a:latin typeface="Calibri"/>
              </a:rPr>
              <a:t>new capabilities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02920" y="438912"/>
            <a:ext cx="402336" cy="365760"/>
          </a:xfrm>
          <a:prstGeom prst="hexagon">
            <a:avLst/>
          </a:prstGeom>
          <a:noFill/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40233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867F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438912"/>
            <a:ext cx="73152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A3B8"/>
                </a:solidFill>
                <a:latin typeface="Calibri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F7789"/>
                </a:solidFill>
                <a:latin typeface="Consola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556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6"/>
                </a:solidFill>
                <a:latin typeface="Calibri"/>
              </a:rPr>
              <a:t>Pick the model for the task — not the biggest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4846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EF0F6"/>
                </a:solidFill>
                <a:latin typeface="Calibri"/>
              </a:rPr>
              <a:t>Gemma 4 — sees, hears, speaks German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4846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FF867F"/>
                </a:solidFill>
                <a:latin typeface="Calibri"/>
              </a:rPr>
              <a:t>the multimodal generalist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20340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633472"/>
            <a:ext cx="46817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6"/>
                </a:solidFill>
                <a:latin typeface="Calibri"/>
              </a:rPr>
              <a:t>Photo of a paper form →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898648"/>
            <a:ext cx="4681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scan forms into structured data, fully local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433572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46703"/>
            <a:ext cx="46817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6"/>
                </a:solidFill>
                <a:latin typeface="Calibri"/>
              </a:rPr>
              <a:t>140+ languages, strong German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611879"/>
            <a:ext cx="4681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12B Unified adds audio input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146804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059936"/>
            <a:ext cx="46817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6"/>
                </a:solidFill>
                <a:latin typeface="Calibri"/>
              </a:rPr>
              <a:t>DSGVO-clean by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325112"/>
            <a:ext cx="4681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the civic-tech / Verwaltung sweet spot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4592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847088"/>
            <a:ext cx="4846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EF0F6"/>
                </a:solidFill>
                <a:latin typeface="Calibri"/>
              </a:rPr>
              <a:t>Qwen 3.6 — writes serious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212848"/>
            <a:ext cx="4846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FF867F"/>
                </a:solidFill>
                <a:latin typeface="Calibri"/>
              </a:rPr>
              <a:t>the specialist coder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2720340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633472"/>
            <a:ext cx="46817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6"/>
                </a:solidFill>
                <a:latin typeface="Calibri"/>
              </a:rPr>
              <a:t>77.2% SWE-bench Verified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2898648"/>
            <a:ext cx="4681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real repository bugs, frontier-level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3433572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3346703"/>
            <a:ext cx="46817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6"/>
                </a:solidFill>
                <a:latin typeface="Calibri"/>
              </a:rPr>
              <a:t>Same task, side by side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3611879"/>
            <a:ext cx="4681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Gemma E4B struggles — Qwen nails it (demo)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4146804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4059936"/>
            <a:ext cx="46817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6"/>
                </a:solidFill>
                <a:latin typeface="Calibri"/>
              </a:rPr>
              <a:t>Local GitHub Copilot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4325112"/>
            <a:ext cx="4681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plug into Cline or aider — private code stays private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166360"/>
            <a:ext cx="11201400" cy="914400"/>
          </a:xfrm>
          <a:prstGeom prst="roundRect">
            <a:avLst>
              <a:gd name="adj" fmla="val 10000"/>
            </a:avLst>
          </a:prstGeom>
          <a:solidFill>
            <a:srgbClr val="26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285232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6"/>
                </a:solidFill>
                <a:latin typeface="Calibri"/>
              </a:rPr>
              <a:t>Honorable mentions:  </a:t>
            </a:r>
            <a:r>
              <a:rPr sz="1350" b="0" i="0">
                <a:solidFill>
                  <a:srgbClr val="9AA3B8"/>
                </a:solidFill>
                <a:latin typeface="Calibri"/>
              </a:rPr>
              <a:t>Whisper (speech→text, runs anywhere)  ·  small embedding models (local RAG)  ·  DeepSeek-R1-style reasoning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02920" y="438912"/>
            <a:ext cx="402336" cy="365760"/>
          </a:xfrm>
          <a:prstGeom prst="hexagon">
            <a:avLst/>
          </a:prstGeom>
          <a:noFill/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40233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867F"/>
                </a:solidFill>
                <a:latin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438912"/>
            <a:ext cx="73152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A3B8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F7789"/>
                </a:solidFill>
                <a:latin typeface="Consola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556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6"/>
                </a:solidFill>
                <a:latin typeface="Calibri"/>
              </a:rPr>
              <a:t>Three things to take home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7223760" cy="932688"/>
          </a:xfrm>
          <a:prstGeom prst="roundRect">
            <a:avLst>
              <a:gd name="adj" fmla="val 9803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777240" y="1938528"/>
            <a:ext cx="475488" cy="438912"/>
          </a:xfrm>
          <a:prstGeom prst="hexagon">
            <a:avLst/>
          </a:prstGeom>
          <a:noFill/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475488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867F"/>
                </a:solidFill>
                <a:latin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60350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EF0F6"/>
                </a:solidFill>
                <a:latin typeface="Calibri"/>
              </a:rPr>
              <a:t>Capable LLMs run on normal laptops —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67128"/>
            <a:ext cx="60350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Quantization (Q4) makes it possible; small recent models beat big old 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70632"/>
            <a:ext cx="7223760" cy="932688"/>
          </a:xfrm>
          <a:prstGeom prst="roundRect">
            <a:avLst>
              <a:gd name="adj" fmla="val 9803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777240" y="3017520"/>
            <a:ext cx="475488" cy="438912"/>
          </a:xfrm>
          <a:prstGeom prst="hexagon">
            <a:avLst/>
          </a:prstGeom>
          <a:noFill/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475488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867F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07792"/>
            <a:ext cx="60350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EF0F6"/>
                </a:solidFill>
                <a:latin typeface="Calibri"/>
              </a:rPr>
              <a:t>Inference is cheap. Training is astronomical.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46120"/>
            <a:ext cx="60350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LoRA / QLoRA is the middle path — customize a model on a free Colab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9624"/>
            <a:ext cx="7223760" cy="932688"/>
          </a:xfrm>
          <a:prstGeom prst="roundRect">
            <a:avLst>
              <a:gd name="adj" fmla="val 9803"/>
            </a:avLst>
          </a:prstGeom>
          <a:solidFill>
            <a:srgbClr val="2A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777240" y="4096512"/>
            <a:ext cx="475488" cy="438912"/>
          </a:xfrm>
          <a:prstGeom prst="hexagon">
            <a:avLst/>
          </a:prstGeom>
          <a:noFill/>
          <a:ln w="22225">
            <a:solidFill>
              <a:srgbClr val="FF8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96512"/>
            <a:ext cx="475488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867F"/>
                </a:solidFill>
                <a:latin typeface="Consola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60350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EF0F6"/>
                </a:solidFill>
                <a:latin typeface="Calibri"/>
              </a:rPr>
              <a:t>Model choice = task 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325112"/>
            <a:ext cx="60350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3B8"/>
                </a:solidFill>
                <a:latin typeface="Calibri"/>
              </a:rPr>
              <a:t>Gemma 4 for multimodal &amp; German · Qwen 3.6 for code · size vs. speed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29200"/>
            <a:ext cx="7223760" cy="1097280"/>
          </a:xfrm>
          <a:prstGeom prst="roundRect">
            <a:avLst>
              <a:gd name="adj" fmla="val 8333"/>
            </a:avLst>
          </a:prstGeom>
          <a:solidFill>
            <a:srgbClr val="14161E"/>
          </a:solidFill>
          <a:ln w="12700">
            <a:solidFill>
              <a:srgbClr val="3A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7512" y="5166360"/>
            <a:ext cx="82296" cy="82296"/>
          </a:xfrm>
          <a:prstGeom prst="ellipse">
            <a:avLst/>
          </a:prstGeom>
          <a:solidFill>
            <a:srgbClr val="FF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5166360"/>
            <a:ext cx="82296" cy="82296"/>
          </a:xfrm>
          <a:prstGeom prst="ellipse">
            <a:avLst/>
          </a:prstGeom>
          <a:solidFill>
            <a:srgbClr val="FFC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8408" y="5166360"/>
            <a:ext cx="82296" cy="82296"/>
          </a:xfrm>
          <a:prstGeom prst="ellipse">
            <a:avLst/>
          </a:prstGeom>
          <a:solidFill>
            <a:srgbClr val="8C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120640"/>
            <a:ext cx="6400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F7789"/>
                </a:solidFill>
                <a:latin typeface="Consolas"/>
              </a:rPr>
              <a:t>try it yourself — tonight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31536"/>
            <a:ext cx="6812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867F"/>
                </a:solidFill>
                <a:latin typeface="Consolas"/>
              </a:rPr>
              <a:t>$ </a:t>
            </a:r>
            <a:r>
              <a:rPr sz="1200" b="0" i="0">
                <a:solidFill>
                  <a:srgbClr val="EEF0F6"/>
                </a:solidFill>
                <a:latin typeface="Consolas"/>
              </a:rPr>
              <a:t>ollama run gemma4:e4b        # ollama.com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64708"/>
            <a:ext cx="68122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7789"/>
                </a:solidFill>
                <a:latin typeface="Consolas"/>
              </a:rPr>
              <a:t># one command → running in 5 minutes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1691640"/>
            <a:ext cx="3611880" cy="4434840"/>
          </a:xfrm>
          <a:prstGeom prst="roundRect">
            <a:avLst>
              <a:gd name="adj" fmla="val 3544"/>
            </a:avLst>
          </a:prstGeom>
          <a:solidFill>
            <a:srgbClr val="2A2E3C"/>
          </a:solidFill>
          <a:ln w="12700">
            <a:solidFill>
              <a:srgbClr val="8A4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19202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EEF0F6"/>
                </a:solidFill>
                <a:latin typeface="Calibri"/>
              </a:rPr>
              <a:t>A project for</a:t>
            </a:r>
          </a:p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EEF0F6"/>
                </a:solidFill>
                <a:latin typeface="Calibri"/>
              </a:rPr>
              <a:t>Code for Bielefeld?</a:t>
            </a:r>
          </a:p>
        </p:txBody>
      </p:sp>
      <p:sp>
        <p:nvSpPr>
          <p:cNvPr id="31" name="Oval 30"/>
          <p:cNvSpPr/>
          <p:nvPr/>
        </p:nvSpPr>
        <p:spPr>
          <a:xfrm>
            <a:off x="8366760" y="2857500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22792" y="2770632"/>
            <a:ext cx="294436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F0F6"/>
                </a:solidFill>
                <a:latin typeface="Calibri"/>
              </a:rPr>
              <a:t>Local document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2792" y="3035808"/>
            <a:ext cx="29443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AA3B8"/>
                </a:solidFill>
                <a:latin typeface="Calibri"/>
              </a:rPr>
              <a:t>paper forms → structured data</a:t>
            </a:r>
          </a:p>
        </p:txBody>
      </p:sp>
      <p:sp>
        <p:nvSpPr>
          <p:cNvPr id="34" name="Oval 33"/>
          <p:cNvSpPr/>
          <p:nvPr/>
        </p:nvSpPr>
        <p:spPr>
          <a:xfrm>
            <a:off x="8366760" y="3634740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2792" y="3547872"/>
            <a:ext cx="294436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F0F6"/>
                </a:solidFill>
                <a:latin typeface="Calibri"/>
              </a:rPr>
              <a:t>RAG over the Ratsinformationssystem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2792" y="3813048"/>
            <a:ext cx="29443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AA3B8"/>
                </a:solidFill>
                <a:latin typeface="Calibri"/>
              </a:rPr>
              <a:t>ask the city council’s documents</a:t>
            </a:r>
          </a:p>
        </p:txBody>
      </p:sp>
      <p:sp>
        <p:nvSpPr>
          <p:cNvPr id="37" name="Oval 36"/>
          <p:cNvSpPr/>
          <p:nvPr/>
        </p:nvSpPr>
        <p:spPr>
          <a:xfrm>
            <a:off x="8366760" y="4411980"/>
            <a:ext cx="91440" cy="91440"/>
          </a:xfrm>
          <a:prstGeom prst="ellipse">
            <a:avLst/>
          </a:prstGeom>
          <a:solidFill>
            <a:srgbClr val="FF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22792" y="4325112"/>
            <a:ext cx="294436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F0F6"/>
                </a:solidFill>
                <a:latin typeface="Calibri"/>
              </a:rPr>
              <a:t>All DSGVO-clean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22792" y="4590288"/>
            <a:ext cx="29443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AA3B8"/>
                </a:solidFill>
                <a:latin typeface="Calibri"/>
              </a:rPr>
              <a:t>runs on hardware we own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5532120"/>
            <a:ext cx="31089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FF867F"/>
                </a:solidFill>
                <a:latin typeface="Calibri"/>
              </a:rPr>
              <a:t>Interested? Let’s talk after.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777240"/>
            <a:ext cx="1828800" cy="2103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63240"/>
            <a:ext cx="112014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EEF0F6"/>
                </a:solidFill>
                <a:latin typeface="Calibri"/>
              </a:rPr>
              <a:t>Danke! —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794760"/>
            <a:ext cx="11201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FF867F"/>
                </a:solidFill>
                <a:latin typeface="Calibri"/>
              </a:rPr>
              <a:t>The terminal is still open — ask, and we’ll try it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4526280"/>
            <a:ext cx="4023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F7789"/>
                </a:solidFill>
                <a:latin typeface="Calibri"/>
              </a:rP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4828032"/>
            <a:ext cx="42062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B8"/>
                </a:solidFill>
                <a:latin typeface="Calibri"/>
              </a:rPr>
              <a:t>Google — Gemma 4 announcement (blog.google)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5129784"/>
            <a:ext cx="42062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B8"/>
                </a:solidFill>
                <a:latin typeface="Calibri"/>
              </a:rPr>
              <a:t>Unsloth — Gemma 4 fine-tuning docs (unsloth.ai)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5431536"/>
            <a:ext cx="42062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B8"/>
                </a:solidFill>
                <a:latin typeface="Calibri"/>
              </a:rPr>
              <a:t>Ollama model library (ollama.com/library)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5733288"/>
            <a:ext cx="42062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B8"/>
                </a:solidFill>
                <a:latin typeface="Calibri"/>
              </a:rPr>
              <a:t>The Decoder — Qwen 3.6-27B vs its 397B predecessor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828032"/>
            <a:ext cx="42062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B8"/>
                </a:solidFill>
                <a:latin typeface="Calibri"/>
              </a:rPr>
              <a:t>llm-stats.com — Qwen 3.6 27B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129784"/>
            <a:ext cx="42062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B8"/>
                </a:solidFill>
                <a:latin typeface="Calibri"/>
              </a:rPr>
              <a:t>corelab.tech — LLM GPU buyer's guide (Apr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431536"/>
            <a:ext cx="42062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B8"/>
                </a:solidFill>
                <a:latin typeface="Calibri"/>
              </a:rPr>
              <a:t>modemguides.com — Ryzen AI Max 395 reality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733288"/>
            <a:ext cx="42062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B8"/>
                </a:solidFill>
                <a:latin typeface="Calibri"/>
              </a:rPr>
              <a:t>pinggy.io — hardware for self-hosting LLMs,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